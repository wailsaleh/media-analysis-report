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323" r:id="rId2"/>
    <p:sldId id="274" r:id="rId3"/>
    <p:sldId id="320" r:id="rId4"/>
    <p:sldId id="324" r:id="rId5"/>
    <p:sldId id="260" r:id="rId6"/>
    <p:sldId id="325" r:id="rId7"/>
    <p:sldId id="326" r:id="rId8"/>
    <p:sldId id="327" r:id="rId9"/>
    <p:sldId id="264" r:id="rId10"/>
    <p:sldId id="29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82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9328DF-F77A-4E81-B5F8-BDF1830AB59F}"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2033473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9328DF-F77A-4E81-B5F8-BDF1830AB59F}"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3187509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9328DF-F77A-4E81-B5F8-BDF1830AB59F}"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1507009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9328DF-F77A-4E81-B5F8-BDF1830AB59F}"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4156377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9328DF-F77A-4E81-B5F8-BDF1830AB59F}"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2256843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9328DF-F77A-4E81-B5F8-BDF1830AB59F}"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1708865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9328DF-F77A-4E81-B5F8-BDF1830AB59F}"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1846094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9328DF-F77A-4E81-B5F8-BDF1830AB59F}"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35513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9328DF-F77A-4E81-B5F8-BDF1830AB59F}"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2218632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9328DF-F77A-4E81-B5F8-BDF1830AB59F}"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757474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9328DF-F77A-4E81-B5F8-BDF1830AB59F}"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1180276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9328DF-F77A-4E81-B5F8-BDF1830AB59F}"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F2A58-9678-4352-A4F8-13A802C29705}"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78052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9328DF-F77A-4E81-B5F8-BDF1830AB59F}"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35646994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99328DF-F77A-4E81-B5F8-BDF1830AB59F}"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17231589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99328DF-F77A-4E81-B5F8-BDF1830AB59F}"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7591548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9328DF-F77A-4E81-B5F8-BDF1830AB59F}"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11504868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9328DF-F77A-4E81-B5F8-BDF1830AB59F}"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DF2A58-9678-4352-A4F8-13A802C29705}" type="slidenum">
              <a:rPr lang="en-US" smtClean="0"/>
              <a:t>‹#›</a:t>
            </a:fld>
            <a:endParaRPr lang="en-US"/>
          </a:p>
        </p:txBody>
      </p:sp>
    </p:spTree>
    <p:extLst>
      <p:ext uri="{BB962C8B-B14F-4D97-AF65-F5344CB8AC3E}">
        <p14:creationId xmlns:p14="http://schemas.microsoft.com/office/powerpoint/2010/main" val="3316425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99328DF-F77A-4E81-B5F8-BDF1830AB59F}" type="datetimeFigureOut">
              <a:rPr lang="en-US" smtClean="0"/>
              <a:t>2/5/2026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1DF2A58-9678-4352-A4F8-13A802C29705}" type="slidenum">
              <a:rPr lang="en-US" smtClean="0"/>
              <a:t>‹#›</a:t>
            </a:fld>
            <a:endParaRPr lang="en-US"/>
          </a:p>
        </p:txBody>
      </p:sp>
    </p:spTree>
    <p:extLst>
      <p:ext uri="{BB962C8B-B14F-4D97-AF65-F5344CB8AC3E}">
        <p14:creationId xmlns:p14="http://schemas.microsoft.com/office/powerpoint/2010/main" val="1638932016"/>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mailto:client.success@carma.com" TargetMode="External"/><Relationship Id="rId2" Type="http://schemas.openxmlformats.org/officeDocument/2006/relationships/hyperlink" Target="mailto:Nisha.Khera@carma.com" TargetMode="External"/><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7DB8045-FBC6-BC30-167F-685CD9760508}"/>
              </a:ext>
            </a:extLst>
          </p:cNvPr>
          <p:cNvPicPr>
            <a:picLocks noChangeAspect="1"/>
          </p:cNvPicPr>
          <p:nvPr/>
        </p:nvPicPr>
        <p:blipFill rotWithShape="1">
          <a:blip r:embed="rId2">
            <a:alphaModFix amt="48000"/>
          </a:blip>
          <a:srcRect l="2442" t="45292" r="2775" b="3865"/>
          <a:stretch/>
        </p:blipFill>
        <p:spPr>
          <a:xfrm>
            <a:off x="-14378" y="4113109"/>
            <a:ext cx="12220755" cy="2744891"/>
          </a:xfrm>
          <a:prstGeom prst="rect">
            <a:avLst/>
          </a:prstGeom>
        </p:spPr>
      </p:pic>
      <p:pic>
        <p:nvPicPr>
          <p:cNvPr id="2" name="Picture 6" descr="Atraf Shehab on LinkedIn: #uae #future #economy #future #business # ...">
            <a:extLst>
              <a:ext uri="{FF2B5EF4-FFF2-40B4-BE49-F238E27FC236}">
                <a16:creationId xmlns:a16="http://schemas.microsoft.com/office/drawing/2014/main" id="{F7E14EBD-C899-EBC6-9F5C-BCDAC5CC4C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358181"/>
            <a:ext cx="7247106" cy="3378963"/>
          </a:xfrm>
          <a:prstGeom prst="rect">
            <a:avLst/>
          </a:prstGeom>
          <a:noFill/>
          <a:extLst>
            <a:ext uri="{909E8E84-426E-40DD-AFC4-6F175D3DCCD1}">
              <a14:hiddenFill xmlns:a14="http://schemas.microsoft.com/office/drawing/2010/main">
                <a:solidFill>
                  <a:srgbClr val="FFFFFF"/>
                </a:solidFill>
              </a14:hiddenFill>
            </a:ext>
          </a:extLst>
        </p:spPr>
      </p:pic>
      <p:sp>
        <p:nvSpPr>
          <p:cNvPr id="6" name="Parallelogram 5">
            <a:extLst>
              <a:ext uri="{FF2B5EF4-FFF2-40B4-BE49-F238E27FC236}">
                <a16:creationId xmlns:a16="http://schemas.microsoft.com/office/drawing/2014/main" id="{C72AB0AD-1280-A47F-103E-2AEA33E28884}"/>
              </a:ext>
            </a:extLst>
          </p:cNvPr>
          <p:cNvSpPr/>
          <p:nvPr/>
        </p:nvSpPr>
        <p:spPr>
          <a:xfrm>
            <a:off x="5956570" y="0"/>
            <a:ext cx="6235430" cy="6858000"/>
          </a:xfrm>
          <a:prstGeom prst="parallelogram">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D9CE441D-6D7F-2551-E603-853850479A10}"/>
              </a:ext>
            </a:extLst>
          </p:cNvPr>
          <p:cNvSpPr>
            <a:spLocks noGrp="1"/>
          </p:cNvSpPr>
          <p:nvPr>
            <p:ph type="ctrTitle"/>
          </p:nvPr>
        </p:nvSpPr>
        <p:spPr>
          <a:xfrm>
            <a:off x="6783826" y="2560652"/>
            <a:ext cx="4580917" cy="1552457"/>
          </a:xfrm>
        </p:spPr>
        <p:txBody>
          <a:bodyPr>
            <a:noAutofit/>
          </a:bodyPr>
          <a:lstStyle/>
          <a:p>
            <a:r>
              <a:rPr lang="en-US" sz="3200" i="1" dirty="0">
                <a:solidFill>
                  <a:schemeClr val="bg1"/>
                </a:solidFill>
                <a:effectLst/>
                <a:latin typeface="Arial" panose="020B0604020202020204" pitchFamily="34" charset="0"/>
                <a:cs typeface="Arial" panose="020B0604020202020204" pitchFamily="34" charset="0"/>
              </a:rPr>
              <a:t>Investopia Media Analysis Report</a:t>
            </a:r>
            <a:br>
              <a:rPr lang="en-US" sz="3200" i="1" dirty="0">
                <a:solidFill>
                  <a:schemeClr val="bg1"/>
                </a:solidFill>
                <a:effectLst/>
                <a:latin typeface="Arial" panose="020B0604020202020204" pitchFamily="34" charset="0"/>
                <a:cs typeface="Arial" panose="020B0604020202020204" pitchFamily="34" charset="0"/>
              </a:rPr>
            </a:br>
            <a:r>
              <a:rPr lang="en-US" sz="3200" i="1" dirty="0">
                <a:solidFill>
                  <a:schemeClr val="bg1"/>
                </a:solidFill>
                <a:effectLst/>
                <a:latin typeface="Arial" panose="020B0604020202020204" pitchFamily="34" charset="0"/>
                <a:cs typeface="Arial" panose="020B0604020202020204" pitchFamily="34" charset="0"/>
              </a:rPr>
              <a:t>February – March 2024</a:t>
            </a:r>
          </a:p>
        </p:txBody>
      </p:sp>
    </p:spTree>
    <p:extLst>
      <p:ext uri="{BB962C8B-B14F-4D97-AF65-F5344CB8AC3E}">
        <p14:creationId xmlns:p14="http://schemas.microsoft.com/office/powerpoint/2010/main" val="1015104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2CA064-6F49-BE1A-DC42-5837F108A954}"/>
              </a:ext>
            </a:extLst>
          </p:cNvPr>
          <p:cNvSpPr txBox="1"/>
          <p:nvPr/>
        </p:nvSpPr>
        <p:spPr>
          <a:xfrm>
            <a:off x="502222" y="523587"/>
            <a:ext cx="6096000" cy="461665"/>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62F87"/>
                </a:solidFill>
                <a:effectLst/>
                <a:uLnTx/>
                <a:uFillTx/>
                <a:latin typeface="Arial" panose="020B0604020202020204" pitchFamily="34" charset="0"/>
                <a:ea typeface="SF Pro Compressed Ultralight" pitchFamily="2" charset="0"/>
                <a:cs typeface="Arial" panose="020B0604020202020204" pitchFamily="34" charset="0"/>
              </a:rPr>
              <a:t>01</a:t>
            </a:r>
            <a:r>
              <a:rPr kumimoji="0" lang="en-US" sz="2400" b="1" i="0" u="none" strike="noStrike" kern="1200" cap="none" spc="0" normalizeH="0" baseline="0" noProof="0" dirty="0">
                <a:ln>
                  <a:noFill/>
                </a:ln>
                <a:solidFill>
                  <a:srgbClr val="062F87"/>
                </a:solidFill>
                <a:effectLst/>
                <a:uLnTx/>
                <a:uFillTx/>
                <a:latin typeface="Arial" panose="020B0604020202020204" pitchFamily="34" charset="0"/>
                <a:ea typeface="SF Pro Heavy" pitchFamily="2" charset="0"/>
                <a:cs typeface="Arial" panose="020B0604020202020204" pitchFamily="34" charset="0"/>
              </a:rPr>
              <a:t> </a:t>
            </a:r>
            <a:r>
              <a:rPr kumimoji="0" lang="en-US" sz="2400" b="1" i="0" u="none" strike="noStrike" kern="1200" cap="none" spc="0" normalizeH="0" baseline="0" noProof="0" dirty="0">
                <a:ln>
                  <a:noFill/>
                </a:ln>
                <a:solidFill>
                  <a:srgbClr val="062F87"/>
                </a:solidFill>
                <a:effectLst/>
                <a:uLnTx/>
                <a:uFillTx/>
                <a:latin typeface="Arial" panose="020B0604020202020204" pitchFamily="34" charset="0"/>
                <a:ea typeface="SF Pro Semibold" pitchFamily="2" charset="0"/>
                <a:cs typeface="Arial" panose="020B0604020202020204" pitchFamily="34" charset="0"/>
              </a:rPr>
              <a:t>Scope of Work</a:t>
            </a:r>
          </a:p>
        </p:txBody>
      </p:sp>
      <p:sp>
        <p:nvSpPr>
          <p:cNvPr id="6" name="TextBox 5">
            <a:extLst>
              <a:ext uri="{FF2B5EF4-FFF2-40B4-BE49-F238E27FC236}">
                <a16:creationId xmlns:a16="http://schemas.microsoft.com/office/drawing/2014/main" id="{E08B7692-2A2A-F93D-6A2F-3D52384565B9}"/>
              </a:ext>
            </a:extLst>
          </p:cNvPr>
          <p:cNvSpPr txBox="1"/>
          <p:nvPr/>
        </p:nvSpPr>
        <p:spPr>
          <a:xfrm>
            <a:off x="663878" y="2443050"/>
            <a:ext cx="5030668" cy="101566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SF Pro Light" pitchFamily="2" charset="0"/>
                <a:cs typeface="Arial" panose="020B0604020202020204" pitchFamily="34" charset="0"/>
              </a:rPr>
              <a:t>The objective of this report is to provide a comprehensive assessment of </a:t>
            </a:r>
            <a:r>
              <a:rPr kumimoji="0" lang="en-US" sz="1200" b="0" i="0" u="none" strike="noStrike" kern="1200" cap="none" spc="0" normalizeH="0" baseline="0" noProof="0" dirty="0" err="1">
                <a:ln>
                  <a:noFill/>
                </a:ln>
                <a:solidFill>
                  <a:prstClr val="black">
                    <a:lumMod val="85000"/>
                    <a:lumOff val="15000"/>
                  </a:prstClr>
                </a:solidFill>
                <a:effectLst/>
                <a:uLnTx/>
                <a:uFillTx/>
                <a:latin typeface="Arial" panose="020B0604020202020204" pitchFamily="34" charset="0"/>
                <a:ea typeface="SF Pro Light" pitchFamily="2" charset="0"/>
                <a:cs typeface="Arial" panose="020B0604020202020204" pitchFamily="34" charset="0"/>
              </a:rPr>
              <a:t>Investopia’s</a:t>
            </a:r>
            <a:r>
              <a:rPr kumimoji="0" lang="en-US" sz="12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SF Pro Light" pitchFamily="2" charset="0"/>
                <a:cs typeface="Arial" panose="020B0604020202020204" pitchFamily="34" charset="0"/>
              </a:rPr>
              <a:t> media coverage across traditional and social media platforms. The analysis combines quantitative metrics with qualitative insights to evaluate visibility, tonality, thematic drivers, and strategic positioning.</a:t>
            </a:r>
          </a:p>
        </p:txBody>
      </p:sp>
      <p:sp>
        <p:nvSpPr>
          <p:cNvPr id="8" name="TextBox 7">
            <a:extLst>
              <a:ext uri="{FF2B5EF4-FFF2-40B4-BE49-F238E27FC236}">
                <a16:creationId xmlns:a16="http://schemas.microsoft.com/office/drawing/2014/main" id="{5BEA0031-57AB-3573-9EA1-21D01463D69F}"/>
              </a:ext>
            </a:extLst>
          </p:cNvPr>
          <p:cNvSpPr txBox="1"/>
          <p:nvPr/>
        </p:nvSpPr>
        <p:spPr>
          <a:xfrm>
            <a:off x="663877" y="2161264"/>
            <a:ext cx="171671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62F87"/>
                </a:solidFill>
                <a:effectLst/>
                <a:uLnTx/>
                <a:uFillTx/>
                <a:latin typeface="Arial" panose="020B0604020202020204" pitchFamily="34" charset="0"/>
                <a:ea typeface="SF Pro Medium" pitchFamily="2" charset="0"/>
                <a:cs typeface="Arial" panose="020B0604020202020204" pitchFamily="34" charset="0"/>
              </a:rPr>
              <a:t>Objectives</a:t>
            </a:r>
          </a:p>
        </p:txBody>
      </p:sp>
      <p:sp>
        <p:nvSpPr>
          <p:cNvPr id="10" name="TextBox 9">
            <a:extLst>
              <a:ext uri="{FF2B5EF4-FFF2-40B4-BE49-F238E27FC236}">
                <a16:creationId xmlns:a16="http://schemas.microsoft.com/office/drawing/2014/main" id="{79E3C10A-BA95-D0AD-E8C8-9CA2D214F483}"/>
              </a:ext>
            </a:extLst>
          </p:cNvPr>
          <p:cNvSpPr txBox="1"/>
          <p:nvPr/>
        </p:nvSpPr>
        <p:spPr>
          <a:xfrm>
            <a:off x="663879" y="4802329"/>
            <a:ext cx="5030668" cy="110799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85000"/>
                    <a:lumOff val="15000"/>
                  </a:prstClr>
                </a:solidFill>
                <a:effectLst/>
                <a:uLnTx/>
                <a:uFillTx/>
                <a:latin typeface="Arial" panose="020B0604020202020204" pitchFamily="34" charset="0"/>
                <a:ea typeface="SF Pro Light" pitchFamily="2" charset="0"/>
                <a:cs typeface="Arial" panose="020B0604020202020204" pitchFamily="34" charset="0"/>
              </a:rPr>
              <a:t>The report is based on a curated sample of 1,189 traditional media articles and 519 unique social media posts collected across multiple platforms and markets. The coverage was analyzed against a predefined set of metrics, combining quantitative measurement (volume, impressions, country distribution, and engagement) with qualitative assessment (tonality, thematic drivers, and narrative trends).</a:t>
            </a:r>
          </a:p>
        </p:txBody>
      </p:sp>
      <p:cxnSp>
        <p:nvCxnSpPr>
          <p:cNvPr id="11" name="Straight Connector 10">
            <a:extLst>
              <a:ext uri="{FF2B5EF4-FFF2-40B4-BE49-F238E27FC236}">
                <a16:creationId xmlns:a16="http://schemas.microsoft.com/office/drawing/2014/main" id="{E9A5504C-B751-07CC-A9ED-22EB95D88A23}"/>
              </a:ext>
            </a:extLst>
          </p:cNvPr>
          <p:cNvCxnSpPr>
            <a:cxnSpLocks/>
          </p:cNvCxnSpPr>
          <p:nvPr/>
        </p:nvCxnSpPr>
        <p:spPr>
          <a:xfrm>
            <a:off x="611102" y="4609056"/>
            <a:ext cx="0" cy="776982"/>
          </a:xfrm>
          <a:prstGeom prst="line">
            <a:avLst/>
          </a:prstGeom>
          <a:ln w="25400">
            <a:solidFill>
              <a:srgbClr val="00468C"/>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87C811F-762B-0F71-E5A4-2E13248F7568}"/>
              </a:ext>
            </a:extLst>
          </p:cNvPr>
          <p:cNvSpPr txBox="1"/>
          <p:nvPr/>
        </p:nvSpPr>
        <p:spPr>
          <a:xfrm>
            <a:off x="663878" y="4520543"/>
            <a:ext cx="33656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62F87"/>
                </a:solidFill>
                <a:effectLst/>
                <a:uLnTx/>
                <a:uFillTx/>
                <a:latin typeface="Arial" panose="020B0604020202020204" pitchFamily="34" charset="0"/>
                <a:ea typeface="SF Pro Medium" pitchFamily="2" charset="0"/>
                <a:cs typeface="Arial" panose="020B0604020202020204" pitchFamily="34" charset="0"/>
              </a:rPr>
              <a:t>Research Methodology</a:t>
            </a:r>
          </a:p>
        </p:txBody>
      </p:sp>
      <p:cxnSp>
        <p:nvCxnSpPr>
          <p:cNvPr id="17" name="Straight Connector 16">
            <a:extLst>
              <a:ext uri="{FF2B5EF4-FFF2-40B4-BE49-F238E27FC236}">
                <a16:creationId xmlns:a16="http://schemas.microsoft.com/office/drawing/2014/main" id="{168BE482-ADA0-0FD9-B993-168C937658AB}"/>
              </a:ext>
            </a:extLst>
          </p:cNvPr>
          <p:cNvCxnSpPr>
            <a:cxnSpLocks/>
          </p:cNvCxnSpPr>
          <p:nvPr/>
        </p:nvCxnSpPr>
        <p:spPr>
          <a:xfrm>
            <a:off x="611101" y="2281571"/>
            <a:ext cx="0" cy="776982"/>
          </a:xfrm>
          <a:prstGeom prst="line">
            <a:avLst/>
          </a:prstGeom>
          <a:ln w="25400">
            <a:solidFill>
              <a:srgbClr val="00468C"/>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096A37B-3AC2-9DAB-4BA9-F3D2F445343A}"/>
              </a:ext>
            </a:extLst>
          </p:cNvPr>
          <p:cNvSpPr/>
          <p:nvPr/>
        </p:nvSpPr>
        <p:spPr>
          <a:xfrm>
            <a:off x="6095989" y="0"/>
            <a:ext cx="6096011"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87ECAC15-BCA1-87C3-E6B7-A3CF5BE48E07}"/>
              </a:ext>
            </a:extLst>
          </p:cNvPr>
          <p:cNvSpPr txBox="1"/>
          <p:nvPr/>
        </p:nvSpPr>
        <p:spPr>
          <a:xfrm>
            <a:off x="6803219" y="2250210"/>
            <a:ext cx="171671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62F87"/>
                </a:solidFill>
                <a:effectLst/>
                <a:uLnTx/>
                <a:uFillTx/>
                <a:latin typeface="Arial" panose="020B0604020202020204" pitchFamily="34" charset="0"/>
                <a:ea typeface="SF Pro Medium" pitchFamily="2" charset="0"/>
                <a:cs typeface="Arial" panose="020B0604020202020204" pitchFamily="34" charset="0"/>
              </a:rPr>
              <a:t>Parameters</a:t>
            </a:r>
          </a:p>
        </p:txBody>
      </p:sp>
      <p:sp>
        <p:nvSpPr>
          <p:cNvPr id="22" name="TextBox 46">
            <a:extLst>
              <a:ext uri="{FF2B5EF4-FFF2-40B4-BE49-F238E27FC236}">
                <a16:creationId xmlns:a16="http://schemas.microsoft.com/office/drawing/2014/main" id="{C685EF9B-891A-D5F7-78E7-4D3406239743}"/>
              </a:ext>
            </a:extLst>
          </p:cNvPr>
          <p:cNvSpPr/>
          <p:nvPr/>
        </p:nvSpPr>
        <p:spPr>
          <a:xfrm>
            <a:off x="6861651" y="2653333"/>
            <a:ext cx="2371559" cy="76943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t">
            <a:spAutoFit/>
          </a:bodyPr>
          <a:lstStyle>
            <a:lvl1pPr>
              <a:defRPr sz="1400" b="1">
                <a:solidFill>
                  <a:srgbClr val="FFFFFF"/>
                </a:solidFill>
                <a:latin typeface="Arial"/>
                <a:ea typeface="Arial"/>
                <a:cs typeface="Arial"/>
                <a:sym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rPr>
              <a:t>Timeframe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rPr>
              <a:t>The report covers </a:t>
            </a:r>
            <a:r>
              <a:rPr lang="en-US" sz="1100" b="0" dirty="0">
                <a:solidFill>
                  <a:prstClr val="black">
                    <a:lumMod val="95000"/>
                    <a:lumOff val="5000"/>
                  </a:prstClr>
                </a:solidFill>
                <a:latin typeface="Arial" panose="020B0604020202020204" pitchFamily="34" charset="0"/>
                <a:ea typeface="Tahoma" panose="020B0604030504040204" pitchFamily="34" charset="0"/>
                <a:cs typeface="Arial" panose="020B0604020202020204" pitchFamily="34" charset="0"/>
              </a:rPr>
              <a:t>February</a:t>
            </a:r>
            <a:r>
              <a:rPr kumimoji="0" lang="en-US" sz="11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rPr>
              <a:t> – March</a:t>
            </a:r>
            <a:r>
              <a:rPr lang="en-US" sz="1100" b="0" dirty="0">
                <a:solidFill>
                  <a:prstClr val="black">
                    <a:lumMod val="95000"/>
                    <a:lumOff val="5000"/>
                  </a:prstClr>
                </a:solidFill>
                <a:latin typeface="Arial" panose="020B0604020202020204" pitchFamily="34" charset="0"/>
                <a:ea typeface="Tahoma" panose="020B0604030504040204" pitchFamily="34" charset="0"/>
                <a:cs typeface="Arial" panose="020B0604020202020204" pitchFamily="34" charset="0"/>
              </a:rPr>
              <a:t> </a:t>
            </a:r>
            <a:r>
              <a:rPr kumimoji="0" lang="en-US" sz="11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rPr>
              <a:t>2024.</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endParaRPr>
          </a:p>
        </p:txBody>
      </p:sp>
      <p:sp>
        <p:nvSpPr>
          <p:cNvPr id="32" name="TextBox 46">
            <a:extLst>
              <a:ext uri="{FF2B5EF4-FFF2-40B4-BE49-F238E27FC236}">
                <a16:creationId xmlns:a16="http://schemas.microsoft.com/office/drawing/2014/main" id="{A37E87C3-1772-EFBE-264C-3D7417D5BCE3}"/>
              </a:ext>
            </a:extLst>
          </p:cNvPr>
          <p:cNvSpPr/>
          <p:nvPr/>
        </p:nvSpPr>
        <p:spPr>
          <a:xfrm>
            <a:off x="9792162" y="2663270"/>
            <a:ext cx="2371559" cy="60016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t">
            <a:spAutoFit/>
          </a:bodyPr>
          <a:lstStyle>
            <a:lvl1pPr>
              <a:defRPr sz="1400" b="1">
                <a:solidFill>
                  <a:srgbClr val="FFFFFF"/>
                </a:solidFill>
                <a:latin typeface="Arial"/>
                <a:ea typeface="Arial"/>
                <a:cs typeface="Arial"/>
                <a:sym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rPr>
              <a:t>Markets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Tahoma" panose="020B0604030504040204" pitchFamily="34" charset="0"/>
                <a:cs typeface="Arial" panose="020B0604020202020204" pitchFamily="34" charset="0"/>
                <a:sym typeface="Arial"/>
              </a:rPr>
              <a:t>Global (dominant UAE)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endParaRPr>
          </a:p>
        </p:txBody>
      </p:sp>
      <p:sp>
        <p:nvSpPr>
          <p:cNvPr id="33" name="TextBox 46">
            <a:extLst>
              <a:ext uri="{FF2B5EF4-FFF2-40B4-BE49-F238E27FC236}">
                <a16:creationId xmlns:a16="http://schemas.microsoft.com/office/drawing/2014/main" id="{2EEDCFE0-C256-7C9C-6421-CE4E73078EA0}"/>
              </a:ext>
            </a:extLst>
          </p:cNvPr>
          <p:cNvSpPr/>
          <p:nvPr/>
        </p:nvSpPr>
        <p:spPr>
          <a:xfrm>
            <a:off x="6861651" y="3364605"/>
            <a:ext cx="2665174" cy="769437"/>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t">
            <a:spAutoFit/>
          </a:bodyPr>
          <a:lstStyle>
            <a:lvl1pPr>
              <a:defRPr sz="1400" b="1">
                <a:solidFill>
                  <a:srgbClr val="FFFFFF"/>
                </a:solidFill>
                <a:latin typeface="Arial"/>
                <a:ea typeface="Arial"/>
                <a:cs typeface="Arial"/>
                <a:sym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rPr>
              <a:t>Media Types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Tahoma" panose="020B0604030504040204" pitchFamily="34" charset="0"/>
                <a:cs typeface="Arial" panose="020B0604020202020204" pitchFamily="34" charset="0"/>
                <a:sym typeface="Arial"/>
              </a:rPr>
              <a:t>Newspapers, Websites, X, LinkedIn, Instagram.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endParaRPr>
          </a:p>
        </p:txBody>
      </p:sp>
      <p:sp>
        <p:nvSpPr>
          <p:cNvPr id="34" name="TextBox 46">
            <a:extLst>
              <a:ext uri="{FF2B5EF4-FFF2-40B4-BE49-F238E27FC236}">
                <a16:creationId xmlns:a16="http://schemas.microsoft.com/office/drawing/2014/main" id="{3B7A9633-6D08-E4E4-C6B5-767D6DC22800}"/>
              </a:ext>
            </a:extLst>
          </p:cNvPr>
          <p:cNvSpPr/>
          <p:nvPr/>
        </p:nvSpPr>
        <p:spPr>
          <a:xfrm>
            <a:off x="9792162" y="3368211"/>
            <a:ext cx="1496151" cy="60016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t">
            <a:spAutoFit/>
          </a:bodyPr>
          <a:lstStyle>
            <a:lvl1pPr>
              <a:defRPr sz="1400" b="1">
                <a:solidFill>
                  <a:srgbClr val="FFFFFF"/>
                </a:solidFill>
                <a:latin typeface="Arial"/>
                <a:ea typeface="Arial"/>
                <a:cs typeface="Arial"/>
                <a:sym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rPr>
              <a:t>Languages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Tahoma" panose="020B0604030504040204" pitchFamily="34" charset="0"/>
                <a:cs typeface="Arial" panose="020B0604020202020204" pitchFamily="34" charset="0"/>
                <a:sym typeface="Arial"/>
              </a:rPr>
              <a:t>English and Arabic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endParaRPr>
          </a:p>
        </p:txBody>
      </p:sp>
      <p:sp>
        <p:nvSpPr>
          <p:cNvPr id="35" name="TextBox 46">
            <a:extLst>
              <a:ext uri="{FF2B5EF4-FFF2-40B4-BE49-F238E27FC236}">
                <a16:creationId xmlns:a16="http://schemas.microsoft.com/office/drawing/2014/main" id="{517264AB-B75D-794F-7A4A-852C81233948}"/>
              </a:ext>
            </a:extLst>
          </p:cNvPr>
          <p:cNvSpPr/>
          <p:nvPr/>
        </p:nvSpPr>
        <p:spPr>
          <a:xfrm>
            <a:off x="6861650" y="4030145"/>
            <a:ext cx="4824827" cy="60016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numCol="1" anchor="t">
            <a:spAutoFit/>
          </a:bodyPr>
          <a:lstStyle>
            <a:lvl1pPr>
              <a:defRPr sz="1400" b="1">
                <a:solidFill>
                  <a:srgbClr val="FFFFFF"/>
                </a:solidFill>
                <a:latin typeface="Arial"/>
                <a:ea typeface="Arial"/>
                <a:cs typeface="Arial"/>
                <a:sym typeface="Aria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rPr>
              <a:t>Matrices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panose="020B0604020202020204" pitchFamily="34" charset="0"/>
                <a:ea typeface="Tahoma" panose="020B0604030504040204" pitchFamily="34" charset="0"/>
                <a:cs typeface="Arial" panose="020B0604020202020204" pitchFamily="34" charset="0"/>
                <a:sym typeface="Arial"/>
              </a:rPr>
              <a:t>Articles Impressions Country Breakdown Trends Over Time Platform Breakdown Tonality Analysis Themes Analysis Top Outlets</a:t>
            </a:r>
            <a:endParaRPr kumimoji="0" sz="1100" b="0" i="0" u="none" strike="noStrike" kern="1200" cap="none" spc="0" normalizeH="0" baseline="0" noProof="0" dirty="0">
              <a:ln>
                <a:noFill/>
              </a:ln>
              <a:solidFill>
                <a:prstClr val="black">
                  <a:lumMod val="95000"/>
                  <a:lumOff val="5000"/>
                </a:prstClr>
              </a:solidFill>
              <a:effectLst/>
              <a:uLnTx/>
              <a:uFillTx/>
              <a:latin typeface="Arial" panose="020B0604020202020204" pitchFamily="34" charset="0"/>
              <a:ea typeface="Tahoma" panose="020B0604030504040204" pitchFamily="34" charset="0"/>
              <a:cs typeface="Arial" panose="020B0604020202020204" pitchFamily="34" charset="0"/>
              <a:sym typeface="Arial"/>
            </a:endParaRPr>
          </a:p>
        </p:txBody>
      </p:sp>
    </p:spTree>
    <p:extLst>
      <p:ext uri="{BB962C8B-B14F-4D97-AF65-F5344CB8AC3E}">
        <p14:creationId xmlns:p14="http://schemas.microsoft.com/office/powerpoint/2010/main" val="311218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9E505917-3F3E-4DBF-68C0-9C8253D997E0}"/>
              </a:ext>
            </a:extLst>
          </p:cNvPr>
          <p:cNvSpPr/>
          <p:nvPr/>
        </p:nvSpPr>
        <p:spPr>
          <a:xfrm>
            <a:off x="486444" y="1018755"/>
            <a:ext cx="2687746" cy="178281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T" dirty="0">
              <a:latin typeface="Arial" panose="020B0604020202020204" pitchFamily="34" charset="0"/>
              <a:cs typeface="Arial" panose="020B0604020202020204" pitchFamily="34" charset="0"/>
            </a:endParaRPr>
          </a:p>
        </p:txBody>
      </p:sp>
      <p:sp>
        <p:nvSpPr>
          <p:cNvPr id="50" name="Rectangle 49">
            <a:extLst>
              <a:ext uri="{FF2B5EF4-FFF2-40B4-BE49-F238E27FC236}">
                <a16:creationId xmlns:a16="http://schemas.microsoft.com/office/drawing/2014/main" id="{03F92125-3E85-56B0-1144-3A4A9AD0D3DF}"/>
              </a:ext>
            </a:extLst>
          </p:cNvPr>
          <p:cNvSpPr/>
          <p:nvPr/>
        </p:nvSpPr>
        <p:spPr>
          <a:xfrm>
            <a:off x="8077529" y="1013970"/>
            <a:ext cx="3728042" cy="2708203"/>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T" dirty="0">
              <a:latin typeface="Arial" panose="020B0604020202020204" pitchFamily="34" charset="0"/>
              <a:cs typeface="Arial" panose="020B0604020202020204" pitchFamily="34" charset="0"/>
            </a:endParaRPr>
          </a:p>
        </p:txBody>
      </p:sp>
      <p:sp>
        <p:nvSpPr>
          <p:cNvPr id="44" name="Rectangle 43">
            <a:extLst>
              <a:ext uri="{FF2B5EF4-FFF2-40B4-BE49-F238E27FC236}">
                <a16:creationId xmlns:a16="http://schemas.microsoft.com/office/drawing/2014/main" id="{C4B1F946-2EA5-D4AC-5B7E-BA82124412E6}"/>
              </a:ext>
            </a:extLst>
          </p:cNvPr>
          <p:cNvSpPr/>
          <p:nvPr/>
        </p:nvSpPr>
        <p:spPr>
          <a:xfrm>
            <a:off x="4014625" y="1018754"/>
            <a:ext cx="3728042" cy="2708203"/>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T"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9707171-CA4C-15A9-B6B9-655919175D4E}"/>
              </a:ext>
            </a:extLst>
          </p:cNvPr>
          <p:cNvSpPr txBox="1"/>
          <p:nvPr/>
        </p:nvSpPr>
        <p:spPr>
          <a:xfrm>
            <a:off x="340468" y="260414"/>
            <a:ext cx="9435830" cy="553998"/>
          </a:xfrm>
          <a:prstGeom prst="rect">
            <a:avLst/>
          </a:prstGeom>
          <a:noFill/>
        </p:spPr>
        <p:txBody>
          <a:bodyPr wrap="square" rtlCol="0">
            <a:spAutoFit/>
          </a:bodyPr>
          <a:lstStyle/>
          <a:p>
            <a:r>
              <a:rPr lang="en-US" sz="3000" b="1" dirty="0">
                <a:solidFill>
                  <a:srgbClr val="062F87"/>
                </a:solidFill>
                <a:latin typeface="Arial" panose="020B0604020202020204" pitchFamily="34" charset="0"/>
              </a:rPr>
              <a:t>Traditional &amp; Social Media Coverage/Tonality</a:t>
            </a:r>
            <a:endParaRPr lang="en-LB" sz="3000" b="1" dirty="0">
              <a:solidFill>
                <a:srgbClr val="062F87"/>
              </a:solidFill>
              <a:latin typeface="Arial" panose="020B0604020202020204" pitchFamily="34" charset="0"/>
            </a:endParaRPr>
          </a:p>
        </p:txBody>
      </p:sp>
      <p:sp>
        <p:nvSpPr>
          <p:cNvPr id="14" name="TextBox 13">
            <a:extLst>
              <a:ext uri="{FF2B5EF4-FFF2-40B4-BE49-F238E27FC236}">
                <a16:creationId xmlns:a16="http://schemas.microsoft.com/office/drawing/2014/main" id="{5FAF038E-22A4-8A38-FE19-5FCEFAE11075}"/>
              </a:ext>
            </a:extLst>
          </p:cNvPr>
          <p:cNvSpPr txBox="1"/>
          <p:nvPr/>
        </p:nvSpPr>
        <p:spPr>
          <a:xfrm>
            <a:off x="495176" y="1267618"/>
            <a:ext cx="1452160" cy="323165"/>
          </a:xfrm>
          <a:prstGeom prst="rect">
            <a:avLst/>
          </a:prstGeom>
          <a:noFill/>
        </p:spPr>
        <p:txBody>
          <a:bodyPr wrap="square" rtlCol="0">
            <a:spAutoFit/>
          </a:bodyPr>
          <a:lstStyle/>
          <a:p>
            <a:pPr algn="ctr"/>
            <a:r>
              <a:rPr lang="en-US" sz="1500" b="1" dirty="0">
                <a:solidFill>
                  <a:srgbClr val="CC9F52"/>
                </a:solidFill>
                <a:latin typeface="Arial" panose="020B0604020202020204" pitchFamily="34" charset="0"/>
              </a:rPr>
              <a:t>Impressions</a:t>
            </a:r>
          </a:p>
        </p:txBody>
      </p:sp>
      <p:sp>
        <p:nvSpPr>
          <p:cNvPr id="15" name="TextBox 14">
            <a:extLst>
              <a:ext uri="{FF2B5EF4-FFF2-40B4-BE49-F238E27FC236}">
                <a16:creationId xmlns:a16="http://schemas.microsoft.com/office/drawing/2014/main" id="{5A402B40-8F93-D409-1832-CDB567E609B6}"/>
              </a:ext>
            </a:extLst>
          </p:cNvPr>
          <p:cNvSpPr txBox="1"/>
          <p:nvPr/>
        </p:nvSpPr>
        <p:spPr>
          <a:xfrm>
            <a:off x="627800" y="1763640"/>
            <a:ext cx="1046827" cy="461665"/>
          </a:xfrm>
          <a:prstGeom prst="rect">
            <a:avLst/>
          </a:prstGeom>
          <a:noFill/>
        </p:spPr>
        <p:txBody>
          <a:bodyPr wrap="square" rtlCol="0">
            <a:spAutoFit/>
          </a:bodyPr>
          <a:lstStyle/>
          <a:p>
            <a:pPr algn="ctr"/>
            <a:r>
              <a:rPr lang="en-US" sz="2400" b="1" dirty="0">
                <a:solidFill>
                  <a:srgbClr val="062F87"/>
                </a:solidFill>
                <a:latin typeface="Arial" panose="020B0604020202020204" pitchFamily="34" charset="0"/>
              </a:rPr>
              <a:t>35M</a:t>
            </a:r>
            <a:endParaRPr lang="en-LB" sz="3200" b="1" dirty="0">
              <a:solidFill>
                <a:srgbClr val="062F87"/>
              </a:solidFill>
              <a:latin typeface="Arial" panose="020B0604020202020204" pitchFamily="34" charset="0"/>
            </a:endParaRPr>
          </a:p>
        </p:txBody>
      </p:sp>
      <p:cxnSp>
        <p:nvCxnSpPr>
          <p:cNvPr id="17" name="Straight Connector 16">
            <a:extLst>
              <a:ext uri="{FF2B5EF4-FFF2-40B4-BE49-F238E27FC236}">
                <a16:creationId xmlns:a16="http://schemas.microsoft.com/office/drawing/2014/main" id="{5FAF2319-11E1-BDC9-BFED-D380EE5A11A2}"/>
              </a:ext>
            </a:extLst>
          </p:cNvPr>
          <p:cNvCxnSpPr>
            <a:cxnSpLocks/>
          </p:cNvCxnSpPr>
          <p:nvPr/>
        </p:nvCxnSpPr>
        <p:spPr>
          <a:xfrm>
            <a:off x="1916208" y="1645359"/>
            <a:ext cx="0" cy="784839"/>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35BB05E-6943-292E-5CEF-809EE97ABF5D}"/>
              </a:ext>
            </a:extLst>
          </p:cNvPr>
          <p:cNvSpPr txBox="1"/>
          <p:nvPr/>
        </p:nvSpPr>
        <p:spPr>
          <a:xfrm>
            <a:off x="2064477" y="1770086"/>
            <a:ext cx="976861" cy="461665"/>
          </a:xfrm>
          <a:prstGeom prst="rect">
            <a:avLst/>
          </a:prstGeom>
          <a:noFill/>
        </p:spPr>
        <p:txBody>
          <a:bodyPr wrap="square" rtlCol="0">
            <a:spAutoFit/>
          </a:bodyPr>
          <a:lstStyle/>
          <a:p>
            <a:pPr algn="ctr"/>
            <a:r>
              <a:rPr lang="en-US" sz="2400" b="1" dirty="0">
                <a:solidFill>
                  <a:srgbClr val="062F87"/>
                </a:solidFill>
                <a:latin typeface="Arial" panose="020B0604020202020204" pitchFamily="34" charset="0"/>
              </a:rPr>
              <a:t>1189</a:t>
            </a:r>
            <a:endParaRPr lang="en-LB" sz="3200" b="1" dirty="0">
              <a:solidFill>
                <a:srgbClr val="062F87"/>
              </a:solidFill>
              <a:latin typeface="Arial" panose="020B0604020202020204" pitchFamily="34" charset="0"/>
            </a:endParaRPr>
          </a:p>
        </p:txBody>
      </p:sp>
      <p:sp>
        <p:nvSpPr>
          <p:cNvPr id="45" name="TextBox 44">
            <a:extLst>
              <a:ext uri="{FF2B5EF4-FFF2-40B4-BE49-F238E27FC236}">
                <a16:creationId xmlns:a16="http://schemas.microsoft.com/office/drawing/2014/main" id="{CC3B682E-2935-70D5-8105-EE6A20004528}"/>
              </a:ext>
            </a:extLst>
          </p:cNvPr>
          <p:cNvSpPr txBox="1"/>
          <p:nvPr/>
        </p:nvSpPr>
        <p:spPr>
          <a:xfrm>
            <a:off x="2103703" y="1259103"/>
            <a:ext cx="914119" cy="323165"/>
          </a:xfrm>
          <a:prstGeom prst="rect">
            <a:avLst/>
          </a:prstGeom>
          <a:noFill/>
        </p:spPr>
        <p:txBody>
          <a:bodyPr wrap="square" rtlCol="0">
            <a:spAutoFit/>
          </a:bodyPr>
          <a:lstStyle/>
          <a:p>
            <a:pPr algn="ctr"/>
            <a:r>
              <a:rPr lang="en-US" sz="1500" b="1" dirty="0">
                <a:solidFill>
                  <a:srgbClr val="CC9F52"/>
                </a:solidFill>
                <a:latin typeface="Arial" panose="020B0604020202020204" pitchFamily="34" charset="0"/>
              </a:rPr>
              <a:t>Articles</a:t>
            </a:r>
            <a:endParaRPr lang="en-LB" sz="1500" b="1" dirty="0">
              <a:solidFill>
                <a:srgbClr val="CC9F52"/>
              </a:solidFill>
              <a:latin typeface="Arial" panose="020B0604020202020204" pitchFamily="34" charset="0"/>
            </a:endParaRPr>
          </a:p>
        </p:txBody>
      </p:sp>
      <p:sp>
        <p:nvSpPr>
          <p:cNvPr id="7" name="TextBox 6">
            <a:extLst>
              <a:ext uri="{FF2B5EF4-FFF2-40B4-BE49-F238E27FC236}">
                <a16:creationId xmlns:a16="http://schemas.microsoft.com/office/drawing/2014/main" id="{CAB7E5FD-57E6-0F9A-9662-594C13ADA063}"/>
              </a:ext>
            </a:extLst>
          </p:cNvPr>
          <p:cNvSpPr txBox="1">
            <a:spLocks/>
          </p:cNvSpPr>
          <p:nvPr/>
        </p:nvSpPr>
        <p:spPr>
          <a:xfrm>
            <a:off x="3960358" y="4004378"/>
            <a:ext cx="7696162" cy="1831271"/>
          </a:xfrm>
          <a:prstGeom prst="rect">
            <a:avLst/>
          </a:prstGeom>
          <a:noFill/>
        </p:spPr>
        <p:txBody>
          <a:bodyPr wrap="square" lIns="91440" tIns="45720" rIns="91440" bIns="45720" anchor="t">
            <a:spAutoFit/>
          </a:bodyPr>
          <a:lstStyle/>
          <a:p>
            <a:pPr marL="171450" indent="-171450" algn="just" hangingPunct="0">
              <a:spcAft>
                <a:spcPts val="600"/>
              </a:spcAft>
              <a:buClr>
                <a:schemeClr val="accent1"/>
              </a:buCl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sym typeface="Arial"/>
              </a:rPr>
              <a:t>Investopia achieved strong media visibility across both traditional and digital channels, generating 1,189 media articles and 519 social posts during the reporting period.</a:t>
            </a:r>
          </a:p>
          <a:p>
            <a:pPr marL="171450" indent="-171450" algn="just" hangingPunct="0">
              <a:spcAft>
                <a:spcPts val="600"/>
              </a:spcAft>
              <a:buClr>
                <a:schemeClr val="accent1"/>
              </a:buCl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sym typeface="Arial"/>
              </a:rPr>
              <a:t>Traditional media coverage was overwhelmingly positive (96%), indicating strong institutional alignment and favorable positioning.</a:t>
            </a:r>
          </a:p>
          <a:p>
            <a:pPr marL="171450" indent="-171450" algn="just" hangingPunct="0">
              <a:spcAft>
                <a:spcPts val="600"/>
              </a:spcAft>
              <a:buClr>
                <a:schemeClr val="accent1"/>
              </a:buCl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sym typeface="Arial"/>
              </a:rPr>
              <a:t>Social media conversation was predominantly neutral and informational, reflecting event-driven participation rather than opinion-led debate.</a:t>
            </a:r>
          </a:p>
          <a:p>
            <a:pPr marL="171450" indent="-171450" algn="just" hangingPunct="0">
              <a:spcAft>
                <a:spcPts val="600"/>
              </a:spcAft>
              <a:buClr>
                <a:schemeClr val="accent1"/>
              </a:buCl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sym typeface="Arial"/>
              </a:rPr>
              <a:t>No significant negative sentiment was recorded, highlighting stable reputational performance.</a:t>
            </a:r>
          </a:p>
        </p:txBody>
      </p:sp>
      <p:sp>
        <p:nvSpPr>
          <p:cNvPr id="25" name="Rectangle 24">
            <a:extLst>
              <a:ext uri="{FF2B5EF4-FFF2-40B4-BE49-F238E27FC236}">
                <a16:creationId xmlns:a16="http://schemas.microsoft.com/office/drawing/2014/main" id="{134EA6C0-493C-58EF-E069-E0107DC56AB6}"/>
              </a:ext>
            </a:extLst>
          </p:cNvPr>
          <p:cNvSpPr/>
          <p:nvPr/>
        </p:nvSpPr>
        <p:spPr>
          <a:xfrm>
            <a:off x="535480" y="3648947"/>
            <a:ext cx="2687746" cy="20743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T" dirty="0">
              <a:latin typeface="Arial" panose="020B0604020202020204" pitchFamily="34" charset="0"/>
              <a:cs typeface="Arial" panose="020B0604020202020204" pitchFamily="34" charset="0"/>
            </a:endParaRPr>
          </a:p>
        </p:txBody>
      </p:sp>
      <p:cxnSp>
        <p:nvCxnSpPr>
          <p:cNvPr id="26" name="Straight Connector 25">
            <a:extLst>
              <a:ext uri="{FF2B5EF4-FFF2-40B4-BE49-F238E27FC236}">
                <a16:creationId xmlns:a16="http://schemas.microsoft.com/office/drawing/2014/main" id="{18F6EC5B-A6F6-E47B-D197-3CC54E1E5D87}"/>
              </a:ext>
            </a:extLst>
          </p:cNvPr>
          <p:cNvCxnSpPr>
            <a:cxnSpLocks/>
          </p:cNvCxnSpPr>
          <p:nvPr/>
        </p:nvCxnSpPr>
        <p:spPr>
          <a:xfrm>
            <a:off x="1891820" y="4045009"/>
            <a:ext cx="0" cy="1546895"/>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5B9026F5-E2D3-A618-330E-0E3B458CD8A7}"/>
              </a:ext>
            </a:extLst>
          </p:cNvPr>
          <p:cNvSpPr txBox="1"/>
          <p:nvPr/>
        </p:nvSpPr>
        <p:spPr>
          <a:xfrm>
            <a:off x="2005780" y="4460784"/>
            <a:ext cx="1583916" cy="459230"/>
          </a:xfrm>
          <a:prstGeom prst="rect">
            <a:avLst/>
          </a:prstGeom>
          <a:noFill/>
        </p:spPr>
        <p:txBody>
          <a:bodyPr wrap="square" rtlCol="0">
            <a:spAutoFit/>
          </a:bodyPr>
          <a:lstStyle/>
          <a:p>
            <a:r>
              <a:rPr lang="en-US" sz="2400" b="1" dirty="0">
                <a:solidFill>
                  <a:srgbClr val="062F87"/>
                </a:solidFill>
                <a:latin typeface="Arial" panose="020B0604020202020204" pitchFamily="34" charset="0"/>
                <a:cs typeface="Arial" panose="020B0604020202020204" pitchFamily="34" charset="0"/>
              </a:rPr>
              <a:t>519</a:t>
            </a:r>
            <a:endParaRPr lang="en-LB" sz="2400" b="1" dirty="0">
              <a:solidFill>
                <a:srgbClr val="062F87"/>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6A25129B-1298-515B-2DCE-E1AEBF4CBB60}"/>
              </a:ext>
            </a:extLst>
          </p:cNvPr>
          <p:cNvSpPr txBox="1"/>
          <p:nvPr/>
        </p:nvSpPr>
        <p:spPr>
          <a:xfrm>
            <a:off x="2005780" y="4848279"/>
            <a:ext cx="1094257" cy="214308"/>
          </a:xfrm>
          <a:prstGeom prst="rect">
            <a:avLst/>
          </a:prstGeom>
          <a:noFill/>
        </p:spPr>
        <p:txBody>
          <a:bodyPr wrap="square" rtlCol="0">
            <a:spAutoFit/>
          </a:bodyPr>
          <a:lstStyle/>
          <a:p>
            <a:r>
              <a:rPr lang="en-US" sz="800" dirty="0">
                <a:solidFill>
                  <a:srgbClr val="062F87"/>
                </a:solidFill>
                <a:latin typeface="Arial" panose="020B0604020202020204" pitchFamily="34" charset="0"/>
                <a:cs typeface="Arial" panose="020B0604020202020204" pitchFamily="34" charset="0"/>
              </a:rPr>
              <a:t>POSTS</a:t>
            </a:r>
            <a:endParaRPr lang="en-LB" sz="800" dirty="0">
              <a:solidFill>
                <a:srgbClr val="062F87"/>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107B392F-9BEB-896B-0B7B-CF046EE2E9F1}"/>
              </a:ext>
            </a:extLst>
          </p:cNvPr>
          <p:cNvSpPr txBox="1"/>
          <p:nvPr/>
        </p:nvSpPr>
        <p:spPr>
          <a:xfrm>
            <a:off x="159586" y="4216170"/>
            <a:ext cx="1583916" cy="459230"/>
          </a:xfrm>
          <a:prstGeom prst="rect">
            <a:avLst/>
          </a:prstGeom>
          <a:noFill/>
        </p:spPr>
        <p:txBody>
          <a:bodyPr wrap="square" rtlCol="0">
            <a:spAutoFit/>
          </a:bodyPr>
          <a:lstStyle/>
          <a:p>
            <a:pPr algn="r"/>
            <a:r>
              <a:rPr lang="en-US" sz="2400" b="1" dirty="0">
                <a:solidFill>
                  <a:srgbClr val="062F87"/>
                </a:solidFill>
                <a:latin typeface="Arial" panose="020B0604020202020204" pitchFamily="34" charset="0"/>
                <a:cs typeface="Arial" panose="020B0604020202020204" pitchFamily="34" charset="0"/>
              </a:rPr>
              <a:t>20K</a:t>
            </a:r>
            <a:endParaRPr lang="en-LB" sz="2400" b="1" dirty="0">
              <a:solidFill>
                <a:srgbClr val="062F87"/>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60226E56-0E6A-D6D4-487B-3A01DC571A8A}"/>
              </a:ext>
            </a:extLst>
          </p:cNvPr>
          <p:cNvSpPr txBox="1"/>
          <p:nvPr/>
        </p:nvSpPr>
        <p:spPr>
          <a:xfrm>
            <a:off x="609219" y="4603665"/>
            <a:ext cx="1094257" cy="214308"/>
          </a:xfrm>
          <a:prstGeom prst="rect">
            <a:avLst/>
          </a:prstGeom>
          <a:noFill/>
        </p:spPr>
        <p:txBody>
          <a:bodyPr wrap="square" rtlCol="0">
            <a:spAutoFit/>
          </a:bodyPr>
          <a:lstStyle/>
          <a:p>
            <a:pPr algn="r"/>
            <a:r>
              <a:rPr lang="en-US" sz="800" dirty="0">
                <a:solidFill>
                  <a:srgbClr val="062F87"/>
                </a:solidFill>
                <a:latin typeface="Arial" panose="020B0604020202020204" pitchFamily="34" charset="0"/>
                <a:cs typeface="Arial" panose="020B0604020202020204" pitchFamily="34" charset="0"/>
              </a:rPr>
              <a:t>ENGAGEMENT</a:t>
            </a:r>
            <a:endParaRPr lang="en-LB" sz="800" dirty="0">
              <a:solidFill>
                <a:srgbClr val="062F87"/>
              </a:solidFill>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3FC9CC3B-12AC-9D5E-C45E-3D374C9873CC}"/>
              </a:ext>
            </a:extLst>
          </p:cNvPr>
          <p:cNvSpPr txBox="1"/>
          <p:nvPr/>
        </p:nvSpPr>
        <p:spPr>
          <a:xfrm>
            <a:off x="161283" y="4773091"/>
            <a:ext cx="1583916" cy="459230"/>
          </a:xfrm>
          <a:prstGeom prst="rect">
            <a:avLst/>
          </a:prstGeom>
          <a:noFill/>
        </p:spPr>
        <p:txBody>
          <a:bodyPr wrap="square" rtlCol="0">
            <a:spAutoFit/>
          </a:bodyPr>
          <a:lstStyle/>
          <a:p>
            <a:pPr algn="r"/>
            <a:r>
              <a:rPr lang="en-US" sz="2400" b="1" dirty="0">
                <a:solidFill>
                  <a:srgbClr val="062F87"/>
                </a:solidFill>
                <a:latin typeface="Arial" panose="020B0604020202020204" pitchFamily="34" charset="0"/>
                <a:cs typeface="Arial" panose="020B0604020202020204" pitchFamily="34" charset="0"/>
              </a:rPr>
              <a:t>14M</a:t>
            </a:r>
          </a:p>
        </p:txBody>
      </p:sp>
      <p:sp>
        <p:nvSpPr>
          <p:cNvPr id="32" name="TextBox 31">
            <a:extLst>
              <a:ext uri="{FF2B5EF4-FFF2-40B4-BE49-F238E27FC236}">
                <a16:creationId xmlns:a16="http://schemas.microsoft.com/office/drawing/2014/main" id="{2183EB60-6C26-59AD-5BCC-020725DB577F}"/>
              </a:ext>
            </a:extLst>
          </p:cNvPr>
          <p:cNvSpPr txBox="1"/>
          <p:nvPr/>
        </p:nvSpPr>
        <p:spPr>
          <a:xfrm>
            <a:off x="610916" y="5151622"/>
            <a:ext cx="1094257" cy="214308"/>
          </a:xfrm>
          <a:prstGeom prst="rect">
            <a:avLst/>
          </a:prstGeom>
          <a:noFill/>
        </p:spPr>
        <p:txBody>
          <a:bodyPr wrap="square" rtlCol="0">
            <a:spAutoFit/>
          </a:bodyPr>
          <a:lstStyle/>
          <a:p>
            <a:pPr algn="r"/>
            <a:r>
              <a:rPr lang="en-US" sz="800" dirty="0">
                <a:solidFill>
                  <a:srgbClr val="062F87"/>
                </a:solidFill>
                <a:latin typeface="Arial" panose="020B0604020202020204" pitchFamily="34" charset="0"/>
                <a:cs typeface="Arial" panose="020B0604020202020204" pitchFamily="34" charset="0"/>
              </a:rPr>
              <a:t>INPRESSIONS</a:t>
            </a:r>
            <a:endParaRPr lang="en-LB" sz="800" dirty="0">
              <a:solidFill>
                <a:srgbClr val="062F87"/>
              </a:solidFill>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23DBA648-BC8F-DAD0-969A-44A7EB857C6A}"/>
              </a:ext>
            </a:extLst>
          </p:cNvPr>
          <p:cNvSpPr txBox="1"/>
          <p:nvPr/>
        </p:nvSpPr>
        <p:spPr>
          <a:xfrm>
            <a:off x="583964" y="3750026"/>
            <a:ext cx="2620703" cy="321461"/>
          </a:xfrm>
          <a:prstGeom prst="rect">
            <a:avLst/>
          </a:prstGeom>
          <a:noFill/>
        </p:spPr>
        <p:txBody>
          <a:bodyPr wrap="square" rtlCol="0">
            <a:spAutoFit/>
          </a:bodyPr>
          <a:lstStyle/>
          <a:p>
            <a:pPr algn="ctr"/>
            <a:r>
              <a:rPr lang="en-US" sz="1500" b="1" dirty="0">
                <a:solidFill>
                  <a:srgbClr val="CC9F52"/>
                </a:solidFill>
                <a:latin typeface="Arial" panose="020B0604020202020204" pitchFamily="34" charset="0"/>
              </a:rPr>
              <a:t>Reach &amp; Engagement</a:t>
            </a:r>
            <a:endParaRPr lang="en-LB" sz="1500" b="1" dirty="0">
              <a:solidFill>
                <a:srgbClr val="CC9F52"/>
              </a:solidFill>
              <a:latin typeface="Arial" panose="020B0604020202020204" pitchFamily="34" charset="0"/>
            </a:endParaRPr>
          </a:p>
        </p:txBody>
      </p:sp>
      <p:pic>
        <p:nvPicPr>
          <p:cNvPr id="43" name="Picture 42">
            <a:extLst>
              <a:ext uri="{FF2B5EF4-FFF2-40B4-BE49-F238E27FC236}">
                <a16:creationId xmlns:a16="http://schemas.microsoft.com/office/drawing/2014/main" id="{51575707-B13F-EA1D-524A-5DB4681C09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0364" y="1030584"/>
            <a:ext cx="3460745" cy="2858131"/>
          </a:xfrm>
          <a:prstGeom prst="rect">
            <a:avLst/>
          </a:prstGeom>
        </p:spPr>
      </p:pic>
      <p:pic>
        <p:nvPicPr>
          <p:cNvPr id="49" name="Picture 48">
            <a:extLst>
              <a:ext uri="{FF2B5EF4-FFF2-40B4-BE49-F238E27FC236}">
                <a16:creationId xmlns:a16="http://schemas.microsoft.com/office/drawing/2014/main" id="{51D9EB08-7CB6-54C0-500C-365DCC005C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4772" y="1013970"/>
            <a:ext cx="3980363" cy="2858130"/>
          </a:xfrm>
          <a:prstGeom prst="rect">
            <a:avLst/>
          </a:prstGeom>
        </p:spPr>
      </p:pic>
      <p:cxnSp>
        <p:nvCxnSpPr>
          <p:cNvPr id="34" name="Straight Connector 33">
            <a:extLst>
              <a:ext uri="{FF2B5EF4-FFF2-40B4-BE49-F238E27FC236}">
                <a16:creationId xmlns:a16="http://schemas.microsoft.com/office/drawing/2014/main" id="{D83A54C2-5DE1-F3A5-01DC-7E8647A24A31}"/>
              </a:ext>
            </a:extLst>
          </p:cNvPr>
          <p:cNvCxnSpPr>
            <a:cxnSpLocks/>
          </p:cNvCxnSpPr>
          <p:nvPr/>
        </p:nvCxnSpPr>
        <p:spPr>
          <a:xfrm flipH="1">
            <a:off x="486444" y="2429648"/>
            <a:ext cx="2669187"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5500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E8DE0-8490-C846-DA0B-2BB394730BAA}"/>
            </a:ext>
          </a:extLst>
        </p:cNvPr>
        <p:cNvGrpSpPr/>
        <p:nvPr/>
      </p:nvGrpSpPr>
      <p:grpSpPr>
        <a:xfrm>
          <a:off x="0" y="0"/>
          <a:ext cx="0" cy="0"/>
          <a:chOff x="0" y="0"/>
          <a:chExt cx="0" cy="0"/>
        </a:xfrm>
      </p:grpSpPr>
      <p:sp>
        <p:nvSpPr>
          <p:cNvPr id="48" name="Rectangle 47">
            <a:extLst>
              <a:ext uri="{FF2B5EF4-FFF2-40B4-BE49-F238E27FC236}">
                <a16:creationId xmlns:a16="http://schemas.microsoft.com/office/drawing/2014/main" id="{CF52BD7C-33DE-1AB5-29EF-127B3BEDC89D}"/>
              </a:ext>
            </a:extLst>
          </p:cNvPr>
          <p:cNvSpPr/>
          <p:nvPr/>
        </p:nvSpPr>
        <p:spPr>
          <a:xfrm>
            <a:off x="274870" y="3555525"/>
            <a:ext cx="6629735" cy="2330683"/>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T" dirty="0">
              <a:latin typeface="Arial" panose="020B0604020202020204" pitchFamily="34" charset="0"/>
              <a:cs typeface="Arial" panose="020B0604020202020204" pitchFamily="34" charset="0"/>
            </a:endParaRPr>
          </a:p>
        </p:txBody>
      </p:sp>
      <p:sp>
        <p:nvSpPr>
          <p:cNvPr id="47" name="Rectangle 46">
            <a:extLst>
              <a:ext uri="{FF2B5EF4-FFF2-40B4-BE49-F238E27FC236}">
                <a16:creationId xmlns:a16="http://schemas.microsoft.com/office/drawing/2014/main" id="{A499F455-856F-DAA8-9738-B0E1B93EB202}"/>
              </a:ext>
            </a:extLst>
          </p:cNvPr>
          <p:cNvSpPr/>
          <p:nvPr/>
        </p:nvSpPr>
        <p:spPr>
          <a:xfrm>
            <a:off x="274871" y="1019627"/>
            <a:ext cx="6629735" cy="2330683"/>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T" dirty="0">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D9E8A23D-C30A-E584-E554-B8CE1489CF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639" y="3702903"/>
            <a:ext cx="5506361" cy="1955403"/>
          </a:xfrm>
          <a:prstGeom prst="rect">
            <a:avLst/>
          </a:prstGeom>
        </p:spPr>
      </p:pic>
      <p:pic>
        <p:nvPicPr>
          <p:cNvPr id="2" name="Picture 1">
            <a:extLst>
              <a:ext uri="{FF2B5EF4-FFF2-40B4-BE49-F238E27FC236}">
                <a16:creationId xmlns:a16="http://schemas.microsoft.com/office/drawing/2014/main" id="{E91BBDBC-E016-367A-FEA9-4A89A37D77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219" y="1316210"/>
            <a:ext cx="5768490" cy="1884895"/>
          </a:xfrm>
          <a:prstGeom prst="rect">
            <a:avLst/>
          </a:prstGeom>
        </p:spPr>
      </p:pic>
      <p:sp>
        <p:nvSpPr>
          <p:cNvPr id="3" name="TextBox 2">
            <a:extLst>
              <a:ext uri="{FF2B5EF4-FFF2-40B4-BE49-F238E27FC236}">
                <a16:creationId xmlns:a16="http://schemas.microsoft.com/office/drawing/2014/main" id="{39DCCB9C-FB55-7812-C785-1AF3F0A27CD4}"/>
              </a:ext>
            </a:extLst>
          </p:cNvPr>
          <p:cNvSpPr txBox="1"/>
          <p:nvPr/>
        </p:nvSpPr>
        <p:spPr>
          <a:xfrm>
            <a:off x="340468" y="260414"/>
            <a:ext cx="9435830" cy="553998"/>
          </a:xfrm>
          <a:prstGeom prst="rect">
            <a:avLst/>
          </a:prstGeom>
          <a:noFill/>
        </p:spPr>
        <p:txBody>
          <a:bodyPr wrap="square" rtlCol="0">
            <a:spAutoFit/>
          </a:bodyPr>
          <a:lstStyle/>
          <a:p>
            <a:r>
              <a:rPr lang="en-US" sz="3000" b="1" dirty="0">
                <a:solidFill>
                  <a:srgbClr val="062F87"/>
                </a:solidFill>
                <a:latin typeface="Arial" panose="020B0604020202020204" pitchFamily="34" charset="0"/>
              </a:rPr>
              <a:t>Coverage Trend Over Time</a:t>
            </a:r>
            <a:endParaRPr lang="en-LB" sz="3000" b="1" dirty="0">
              <a:solidFill>
                <a:srgbClr val="062F87"/>
              </a:solidFill>
              <a:latin typeface="Arial" panose="020B0604020202020204" pitchFamily="34" charset="0"/>
            </a:endParaRPr>
          </a:p>
        </p:txBody>
      </p:sp>
      <p:sp>
        <p:nvSpPr>
          <p:cNvPr id="7" name="TextBox 6">
            <a:extLst>
              <a:ext uri="{FF2B5EF4-FFF2-40B4-BE49-F238E27FC236}">
                <a16:creationId xmlns:a16="http://schemas.microsoft.com/office/drawing/2014/main" id="{440F7FA6-70F9-8F00-331F-A8C4F9F830AE}"/>
              </a:ext>
            </a:extLst>
          </p:cNvPr>
          <p:cNvSpPr txBox="1">
            <a:spLocks/>
          </p:cNvSpPr>
          <p:nvPr/>
        </p:nvSpPr>
        <p:spPr>
          <a:xfrm>
            <a:off x="6950326" y="1206861"/>
            <a:ext cx="4087762" cy="1677382"/>
          </a:xfrm>
          <a:prstGeom prst="rect">
            <a:avLst/>
          </a:prstGeom>
          <a:noFill/>
        </p:spPr>
        <p:txBody>
          <a:bodyPr wrap="square" lIns="91440" tIns="45720" rIns="91440" bIns="45720" anchor="t">
            <a:spAutoFit/>
          </a:bodyPr>
          <a:lstStyle/>
          <a:p>
            <a:pPr marL="171450" indent="-171450" algn="just" hangingPunct="0">
              <a:spcAft>
                <a:spcPts val="600"/>
              </a:spcAft>
              <a:buClr>
                <a:schemeClr val="accent1"/>
              </a:buCl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sym typeface="Arial"/>
              </a:rPr>
              <a:t>Media coverage was highly event-driven, with the most significant surge occurring on 29 February (~200 articles), driven by strategic announcements related to innovation and sustainable growth.</a:t>
            </a:r>
          </a:p>
          <a:p>
            <a:pPr marL="171450" indent="-171450" algn="just" hangingPunct="0">
              <a:spcAft>
                <a:spcPts val="600"/>
              </a:spcAft>
              <a:buClr>
                <a:schemeClr val="accent1"/>
              </a:buCl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sym typeface="Arial"/>
              </a:rPr>
              <a:t>A second notable spike on 24 March (113 articles) was associated with investment fund and trade-tech developments.</a:t>
            </a:r>
          </a:p>
        </p:txBody>
      </p:sp>
      <p:sp>
        <p:nvSpPr>
          <p:cNvPr id="4" name="Oval 3">
            <a:extLst>
              <a:ext uri="{FF2B5EF4-FFF2-40B4-BE49-F238E27FC236}">
                <a16:creationId xmlns:a16="http://schemas.microsoft.com/office/drawing/2014/main" id="{815DFA10-1CEF-A7B8-33AD-1AB051B8CAC5}"/>
              </a:ext>
            </a:extLst>
          </p:cNvPr>
          <p:cNvSpPr/>
          <p:nvPr/>
        </p:nvSpPr>
        <p:spPr>
          <a:xfrm>
            <a:off x="3256019" y="1399353"/>
            <a:ext cx="91440" cy="91440"/>
          </a:xfrm>
          <a:prstGeom prst="ellipse">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800" dirty="0">
              <a:latin typeface="Arial" panose="020B0604020202020204" pitchFamily="34" charset="0"/>
              <a:cs typeface="Arial" panose="020B0604020202020204" pitchFamily="34" charset="0"/>
            </a:endParaRPr>
          </a:p>
        </p:txBody>
      </p:sp>
      <p:cxnSp>
        <p:nvCxnSpPr>
          <p:cNvPr id="5" name="Straight Connector 4">
            <a:extLst>
              <a:ext uri="{FF2B5EF4-FFF2-40B4-BE49-F238E27FC236}">
                <a16:creationId xmlns:a16="http://schemas.microsoft.com/office/drawing/2014/main" id="{2659618C-4401-F6E9-9516-E57218AF3F8C}"/>
              </a:ext>
            </a:extLst>
          </p:cNvPr>
          <p:cNvCxnSpPr>
            <a:cxnSpLocks/>
          </p:cNvCxnSpPr>
          <p:nvPr/>
        </p:nvCxnSpPr>
        <p:spPr>
          <a:xfrm flipV="1">
            <a:off x="3301739" y="1490793"/>
            <a:ext cx="0" cy="276681"/>
          </a:xfrm>
          <a:prstGeom prst="line">
            <a:avLst/>
          </a:prstGeom>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DAA23A36-88A6-DCE5-CF15-14018F8B2B77}"/>
              </a:ext>
            </a:extLst>
          </p:cNvPr>
          <p:cNvSpPr/>
          <p:nvPr/>
        </p:nvSpPr>
        <p:spPr>
          <a:xfrm>
            <a:off x="3393179" y="1322571"/>
            <a:ext cx="2347527" cy="245003"/>
          </a:xfrm>
          <a:prstGeom prst="rect">
            <a:avLst/>
          </a:prstGeom>
        </p:spPr>
        <p:txBody>
          <a:bodyPr wrap="square">
            <a:spAutoFit/>
          </a:bodyPr>
          <a:lstStyle/>
          <a:p>
            <a:pPr marR="0" lvl="0">
              <a:lnSpc>
                <a:spcPct val="107000"/>
              </a:lnSpc>
              <a:spcBef>
                <a:spcPts val="0"/>
              </a:spcBef>
              <a:spcAft>
                <a:spcPts val="800"/>
              </a:spcAft>
              <a:buClr>
                <a:srgbClr val="0047BA"/>
              </a:buClr>
            </a:pPr>
            <a:r>
              <a:rPr lang="en-US" sz="1000" kern="100" dirty="0">
                <a:solidFill>
                  <a:schemeClr val="tx2"/>
                </a:solidFill>
                <a:latin typeface="Arial" panose="020B0604020202020204" pitchFamily="34" charset="0"/>
                <a:ea typeface="Calibri" panose="020F0502020204030204" pitchFamily="34" charset="0"/>
                <a:cs typeface="Arial" panose="020B0604020202020204" pitchFamily="34" charset="0"/>
              </a:rPr>
              <a:t>29 February (~200 articles)</a:t>
            </a:r>
          </a:p>
        </p:txBody>
      </p:sp>
      <p:sp>
        <p:nvSpPr>
          <p:cNvPr id="16" name="Oval 15">
            <a:extLst>
              <a:ext uri="{FF2B5EF4-FFF2-40B4-BE49-F238E27FC236}">
                <a16:creationId xmlns:a16="http://schemas.microsoft.com/office/drawing/2014/main" id="{00B25E37-4DBB-34AE-4176-7A3A53EB3FC4}"/>
              </a:ext>
            </a:extLst>
          </p:cNvPr>
          <p:cNvSpPr/>
          <p:nvPr/>
        </p:nvSpPr>
        <p:spPr>
          <a:xfrm>
            <a:off x="5269598" y="1954112"/>
            <a:ext cx="91440" cy="91440"/>
          </a:xfrm>
          <a:prstGeom prst="ellipse">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800" dirty="0">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7386C7BA-CCEE-B268-CD3C-92B79DF2D5DA}"/>
              </a:ext>
            </a:extLst>
          </p:cNvPr>
          <p:cNvCxnSpPr>
            <a:cxnSpLocks/>
          </p:cNvCxnSpPr>
          <p:nvPr/>
        </p:nvCxnSpPr>
        <p:spPr>
          <a:xfrm flipV="1">
            <a:off x="5315318" y="2029303"/>
            <a:ext cx="0" cy="276681"/>
          </a:xfrm>
          <a:prstGeom prst="line">
            <a:avLst/>
          </a:prstGeom>
          <a:ln/>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id="{28270D34-3972-DCE2-76E6-E95FDBCB28F9}"/>
              </a:ext>
            </a:extLst>
          </p:cNvPr>
          <p:cNvSpPr/>
          <p:nvPr/>
        </p:nvSpPr>
        <p:spPr>
          <a:xfrm>
            <a:off x="5406758" y="1877330"/>
            <a:ext cx="2347527" cy="245003"/>
          </a:xfrm>
          <a:prstGeom prst="rect">
            <a:avLst/>
          </a:prstGeom>
        </p:spPr>
        <p:txBody>
          <a:bodyPr wrap="square">
            <a:spAutoFit/>
          </a:bodyPr>
          <a:lstStyle/>
          <a:p>
            <a:pPr marR="0" lvl="0">
              <a:lnSpc>
                <a:spcPct val="107000"/>
              </a:lnSpc>
              <a:spcBef>
                <a:spcPts val="0"/>
              </a:spcBef>
              <a:spcAft>
                <a:spcPts val="800"/>
              </a:spcAft>
              <a:buClr>
                <a:srgbClr val="0047BA"/>
              </a:buClr>
            </a:pPr>
            <a:r>
              <a:rPr lang="en-US" sz="1000" kern="100" dirty="0">
                <a:solidFill>
                  <a:schemeClr val="tx2"/>
                </a:solidFill>
                <a:latin typeface="Arial" panose="020B0604020202020204" pitchFamily="34" charset="0"/>
                <a:ea typeface="Calibri" panose="020F0502020204030204" pitchFamily="34" charset="0"/>
                <a:cs typeface="Arial" panose="020B0604020202020204" pitchFamily="34" charset="0"/>
              </a:rPr>
              <a:t>24 March (113 articles)</a:t>
            </a:r>
          </a:p>
        </p:txBody>
      </p:sp>
      <p:sp>
        <p:nvSpPr>
          <p:cNvPr id="37" name="Oval 36">
            <a:extLst>
              <a:ext uri="{FF2B5EF4-FFF2-40B4-BE49-F238E27FC236}">
                <a16:creationId xmlns:a16="http://schemas.microsoft.com/office/drawing/2014/main" id="{E4190FC7-5CF4-5915-BDE0-AC267E4263EE}"/>
              </a:ext>
            </a:extLst>
          </p:cNvPr>
          <p:cNvSpPr/>
          <p:nvPr/>
        </p:nvSpPr>
        <p:spPr>
          <a:xfrm>
            <a:off x="2042212" y="4017870"/>
            <a:ext cx="91440" cy="91440"/>
          </a:xfrm>
          <a:prstGeom prst="ellipse">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800" dirty="0">
              <a:latin typeface="Arial" panose="020B0604020202020204" pitchFamily="34" charset="0"/>
              <a:cs typeface="Arial" panose="020B0604020202020204" pitchFamily="34" charset="0"/>
            </a:endParaRPr>
          </a:p>
        </p:txBody>
      </p:sp>
      <p:cxnSp>
        <p:nvCxnSpPr>
          <p:cNvPr id="38" name="Straight Connector 37">
            <a:extLst>
              <a:ext uri="{FF2B5EF4-FFF2-40B4-BE49-F238E27FC236}">
                <a16:creationId xmlns:a16="http://schemas.microsoft.com/office/drawing/2014/main" id="{65FACA4B-D5E2-2676-C336-4FD89913D250}"/>
              </a:ext>
            </a:extLst>
          </p:cNvPr>
          <p:cNvCxnSpPr>
            <a:cxnSpLocks/>
          </p:cNvCxnSpPr>
          <p:nvPr/>
        </p:nvCxnSpPr>
        <p:spPr>
          <a:xfrm flipV="1">
            <a:off x="2093607" y="4109111"/>
            <a:ext cx="0" cy="130735"/>
          </a:xfrm>
          <a:prstGeom prst="line">
            <a:avLst/>
          </a:prstGeom>
          <a:ln/>
        </p:spPr>
        <p:style>
          <a:lnRef idx="1">
            <a:schemeClr val="dk1"/>
          </a:lnRef>
          <a:fillRef idx="0">
            <a:schemeClr val="dk1"/>
          </a:fillRef>
          <a:effectRef idx="0">
            <a:schemeClr val="dk1"/>
          </a:effectRef>
          <a:fontRef idx="minor">
            <a:schemeClr val="tx1"/>
          </a:fontRef>
        </p:style>
      </p:cxnSp>
      <p:sp>
        <p:nvSpPr>
          <p:cNvPr id="39" name="Rectangle 38">
            <a:extLst>
              <a:ext uri="{FF2B5EF4-FFF2-40B4-BE49-F238E27FC236}">
                <a16:creationId xmlns:a16="http://schemas.microsoft.com/office/drawing/2014/main" id="{E5B1E63F-65F1-D7A5-9927-B1E7F9A396C6}"/>
              </a:ext>
            </a:extLst>
          </p:cNvPr>
          <p:cNvSpPr/>
          <p:nvPr/>
        </p:nvSpPr>
        <p:spPr>
          <a:xfrm>
            <a:off x="2173695" y="3895369"/>
            <a:ext cx="2347527" cy="245003"/>
          </a:xfrm>
          <a:prstGeom prst="rect">
            <a:avLst/>
          </a:prstGeom>
        </p:spPr>
        <p:txBody>
          <a:bodyPr wrap="square">
            <a:spAutoFit/>
          </a:bodyPr>
          <a:lstStyle/>
          <a:p>
            <a:pPr marR="0" lvl="0">
              <a:lnSpc>
                <a:spcPct val="107000"/>
              </a:lnSpc>
              <a:spcBef>
                <a:spcPts val="0"/>
              </a:spcBef>
              <a:spcAft>
                <a:spcPts val="800"/>
              </a:spcAft>
              <a:buClr>
                <a:srgbClr val="0047BA"/>
              </a:buClr>
            </a:pPr>
            <a:r>
              <a:rPr lang="en-US" sz="1000" kern="100" dirty="0">
                <a:solidFill>
                  <a:schemeClr val="tx2"/>
                </a:solidFill>
                <a:latin typeface="Arial" panose="020B0604020202020204" pitchFamily="34" charset="0"/>
                <a:ea typeface="Calibri" panose="020F0502020204030204" pitchFamily="34" charset="0"/>
                <a:cs typeface="Arial" panose="020B0604020202020204" pitchFamily="34" charset="0"/>
              </a:rPr>
              <a:t>28 February (132 posts)</a:t>
            </a:r>
          </a:p>
        </p:txBody>
      </p:sp>
      <p:sp>
        <p:nvSpPr>
          <p:cNvPr id="46" name="TextBox 45">
            <a:extLst>
              <a:ext uri="{FF2B5EF4-FFF2-40B4-BE49-F238E27FC236}">
                <a16:creationId xmlns:a16="http://schemas.microsoft.com/office/drawing/2014/main" id="{4D1B2DDF-51AC-B196-5CB2-39B720BB9EC2}"/>
              </a:ext>
            </a:extLst>
          </p:cNvPr>
          <p:cNvSpPr txBox="1">
            <a:spLocks/>
          </p:cNvSpPr>
          <p:nvPr/>
        </p:nvSpPr>
        <p:spPr>
          <a:xfrm>
            <a:off x="6950326" y="4174478"/>
            <a:ext cx="4087762" cy="738664"/>
          </a:xfrm>
          <a:prstGeom prst="rect">
            <a:avLst/>
          </a:prstGeom>
          <a:noFill/>
        </p:spPr>
        <p:txBody>
          <a:bodyPr wrap="square" lIns="91440" tIns="45720" rIns="91440" bIns="45720" anchor="t">
            <a:spAutoFit/>
          </a:bodyPr>
          <a:lstStyle/>
          <a:p>
            <a:pPr marL="171450" indent="-171450" algn="just" hangingPunct="0">
              <a:spcAft>
                <a:spcPts val="600"/>
              </a:spcAft>
              <a:buClr>
                <a:schemeClr val="accent1"/>
              </a:buClr>
              <a:buFont typeface="Arial" panose="020B0604020202020204" pitchFamily="34" charset="0"/>
              <a:buChar char="•"/>
            </a:pPr>
            <a:r>
              <a:rPr lang="en-US" sz="1400" b="1" dirty="0">
                <a:latin typeface="Calibri" panose="020F0502020204030204" pitchFamily="34" charset="0"/>
                <a:ea typeface="Calibri" panose="020F0502020204030204" pitchFamily="34" charset="0"/>
                <a:cs typeface="Calibri" panose="020F0502020204030204" pitchFamily="34" charset="0"/>
                <a:sym typeface="Arial"/>
              </a:rPr>
              <a:t>Social media activity peaked one day earlier 28 February (132 posts), indicating early digital amplification preceding broader media pickup.</a:t>
            </a:r>
          </a:p>
        </p:txBody>
      </p:sp>
    </p:spTree>
    <p:extLst>
      <p:ext uri="{BB962C8B-B14F-4D97-AF65-F5344CB8AC3E}">
        <p14:creationId xmlns:p14="http://schemas.microsoft.com/office/powerpoint/2010/main" val="1659658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D31D5-35D8-A9EB-EA56-D0B228BCDBCD}"/>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A7BDDD85-1C5E-DA61-F5C7-4403F7B9E191}"/>
              </a:ext>
            </a:extLst>
          </p:cNvPr>
          <p:cNvSpPr/>
          <p:nvPr/>
        </p:nvSpPr>
        <p:spPr>
          <a:xfrm>
            <a:off x="413121" y="2074093"/>
            <a:ext cx="6724649" cy="3498074"/>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T" dirty="0">
              <a:latin typeface="Arial" panose="020B0604020202020204" pitchFamily="34" charset="0"/>
              <a:cs typeface="Arial" panose="020B0604020202020204" pitchFamily="34" charset="0"/>
            </a:endParaRPr>
          </a:p>
        </p:txBody>
      </p:sp>
      <p:sp>
        <p:nvSpPr>
          <p:cNvPr id="9" name="Subtitle 2">
            <a:extLst>
              <a:ext uri="{FF2B5EF4-FFF2-40B4-BE49-F238E27FC236}">
                <a16:creationId xmlns:a16="http://schemas.microsoft.com/office/drawing/2014/main" id="{7EB99156-5434-A1CB-A3C9-3B2117DC8E42}"/>
              </a:ext>
            </a:extLst>
          </p:cNvPr>
          <p:cNvSpPr txBox="1">
            <a:spLocks/>
          </p:cNvSpPr>
          <p:nvPr/>
        </p:nvSpPr>
        <p:spPr>
          <a:xfrm>
            <a:off x="7299433" y="3628802"/>
            <a:ext cx="4177017" cy="264586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defTabSz="457200" hangingPunct="0">
              <a:lnSpc>
                <a:spcPct val="120000"/>
              </a:lnSpc>
              <a:spcAft>
                <a:spcPts val="600"/>
              </a:spcAft>
              <a:buClr>
                <a:schemeClr val="accent1"/>
              </a:buClr>
            </a:pPr>
            <a:r>
              <a:rPr lang="en-US" sz="1400" b="1" dirty="0">
                <a:latin typeface="Calibri" panose="020F0502020204030204" pitchFamily="34" charset="0"/>
                <a:cs typeface="Calibri" panose="020F0502020204030204" pitchFamily="34" charset="0"/>
              </a:rPr>
              <a:t>Traditional coverage centered on structured investment mechanisms, innovation, and sustainable economic transformation.</a:t>
            </a:r>
          </a:p>
          <a:p>
            <a:pPr marL="171450" indent="-171450" algn="just" defTabSz="457200" hangingPunct="0">
              <a:lnSpc>
                <a:spcPct val="130000"/>
              </a:lnSpc>
              <a:spcAft>
                <a:spcPts val="600"/>
              </a:spcAft>
              <a:buClr>
                <a:schemeClr val="accent1"/>
              </a:buClr>
            </a:pPr>
            <a:r>
              <a:rPr lang="en-US" sz="1400" b="1" dirty="0">
                <a:latin typeface="Calibri" panose="020F0502020204030204" pitchFamily="34" charset="0"/>
                <a:cs typeface="Calibri" panose="020F0502020204030204" pitchFamily="34" charset="0"/>
              </a:rPr>
              <a:t>Innovation-driven investment narratives generated the highest impressions, reinforcing </a:t>
            </a:r>
            <a:r>
              <a:rPr lang="en-US" sz="1400" b="1" dirty="0" err="1">
                <a:latin typeface="Calibri" panose="020F0502020204030204" pitchFamily="34" charset="0"/>
                <a:cs typeface="Calibri" panose="020F0502020204030204" pitchFamily="34" charset="0"/>
              </a:rPr>
              <a:t>Investopia’s</a:t>
            </a:r>
            <a:r>
              <a:rPr lang="en-US" sz="1400" b="1" dirty="0">
                <a:latin typeface="Calibri" panose="020F0502020204030204" pitchFamily="34" charset="0"/>
                <a:cs typeface="Calibri" panose="020F0502020204030204" pitchFamily="34" charset="0"/>
              </a:rPr>
              <a:t> positioning as a long-term economic catalyst.</a:t>
            </a:r>
          </a:p>
          <a:p>
            <a:pPr marL="171450" indent="-171450" algn="just" defTabSz="457200" hangingPunct="0">
              <a:lnSpc>
                <a:spcPct val="130000"/>
              </a:lnSpc>
              <a:spcAft>
                <a:spcPts val="600"/>
              </a:spcAft>
              <a:buClr>
                <a:schemeClr val="accent1"/>
              </a:buClr>
            </a:pPr>
            <a:r>
              <a:rPr lang="en-US" sz="1400" b="1" dirty="0">
                <a:latin typeface="Calibri" panose="020F0502020204030204" pitchFamily="34" charset="0"/>
                <a:cs typeface="Calibri" panose="020F0502020204030204" pitchFamily="34" charset="0"/>
              </a:rPr>
              <a:t>Education-linked and growth-sector themes expanded the scope of coverage beyond finance into broader development discourse.</a:t>
            </a:r>
          </a:p>
        </p:txBody>
      </p:sp>
      <p:sp>
        <p:nvSpPr>
          <p:cNvPr id="2" name="TextBox 1">
            <a:extLst>
              <a:ext uri="{FF2B5EF4-FFF2-40B4-BE49-F238E27FC236}">
                <a16:creationId xmlns:a16="http://schemas.microsoft.com/office/drawing/2014/main" id="{7BC300B6-D0AB-D33A-35BB-6B8FD0C97C9B}"/>
              </a:ext>
            </a:extLst>
          </p:cNvPr>
          <p:cNvSpPr txBox="1"/>
          <p:nvPr/>
        </p:nvSpPr>
        <p:spPr>
          <a:xfrm>
            <a:off x="340468" y="260414"/>
            <a:ext cx="6869957" cy="553998"/>
          </a:xfrm>
          <a:prstGeom prst="rect">
            <a:avLst/>
          </a:prstGeom>
          <a:noFill/>
        </p:spPr>
        <p:txBody>
          <a:bodyPr wrap="square" rtlCol="0">
            <a:spAutoFit/>
          </a:bodyPr>
          <a:lstStyle/>
          <a:p>
            <a:r>
              <a:rPr lang="en-US" sz="3000" b="1" dirty="0">
                <a:solidFill>
                  <a:srgbClr val="062F87"/>
                </a:solidFill>
                <a:latin typeface="Arial" panose="020B0604020202020204" pitchFamily="34" charset="0"/>
              </a:rPr>
              <a:t>Traditional Media Themes Analysis</a:t>
            </a:r>
            <a:endParaRPr lang="en-LB" sz="3000" b="1" dirty="0">
              <a:solidFill>
                <a:srgbClr val="062F87"/>
              </a:solidFill>
              <a:latin typeface="Arial" panose="020B0604020202020204" pitchFamily="34" charset="0"/>
            </a:endParaRPr>
          </a:p>
        </p:txBody>
      </p:sp>
      <p:graphicFrame>
        <p:nvGraphicFramePr>
          <p:cNvPr id="27" name="Table 21">
            <a:extLst>
              <a:ext uri="{FF2B5EF4-FFF2-40B4-BE49-F238E27FC236}">
                <a16:creationId xmlns:a16="http://schemas.microsoft.com/office/drawing/2014/main" id="{599DB83C-56A0-022E-10EC-5C116A1119CE}"/>
              </a:ext>
            </a:extLst>
          </p:cNvPr>
          <p:cNvGraphicFramePr>
            <a:graphicFrameLocks noGrp="1"/>
          </p:cNvGraphicFramePr>
          <p:nvPr>
            <p:extLst>
              <p:ext uri="{D42A27DB-BD31-4B8C-83A1-F6EECF244321}">
                <p14:modId xmlns:p14="http://schemas.microsoft.com/office/powerpoint/2010/main" val="3472300986"/>
              </p:ext>
            </p:extLst>
          </p:nvPr>
        </p:nvGraphicFramePr>
        <p:xfrm>
          <a:off x="7366108" y="1162050"/>
          <a:ext cx="4511567" cy="2171702"/>
        </p:xfrm>
        <a:graphic>
          <a:graphicData uri="http://schemas.openxmlformats.org/drawingml/2006/table">
            <a:tbl>
              <a:tblPr firstRow="1" bandRow="1">
                <a:tableStyleId>{5C22544A-7EE6-4342-B048-85BDC9FD1C3A}</a:tableStyleId>
              </a:tblPr>
              <a:tblGrid>
                <a:gridCol w="1977917">
                  <a:extLst>
                    <a:ext uri="{9D8B030D-6E8A-4147-A177-3AD203B41FA5}">
                      <a16:colId xmlns:a16="http://schemas.microsoft.com/office/drawing/2014/main" val="1962646219"/>
                    </a:ext>
                  </a:extLst>
                </a:gridCol>
                <a:gridCol w="1029794">
                  <a:extLst>
                    <a:ext uri="{9D8B030D-6E8A-4147-A177-3AD203B41FA5}">
                      <a16:colId xmlns:a16="http://schemas.microsoft.com/office/drawing/2014/main" val="2389171925"/>
                    </a:ext>
                  </a:extLst>
                </a:gridCol>
                <a:gridCol w="1503856">
                  <a:extLst>
                    <a:ext uri="{9D8B030D-6E8A-4147-A177-3AD203B41FA5}">
                      <a16:colId xmlns:a16="http://schemas.microsoft.com/office/drawing/2014/main" val="4048593410"/>
                    </a:ext>
                  </a:extLst>
                </a:gridCol>
              </a:tblGrid>
              <a:tr h="346262">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Themes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Articles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Impressions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extLst>
                  <a:ext uri="{0D108BD9-81ED-4DB2-BD59-A6C34878D82A}">
                    <a16:rowId xmlns:a16="http://schemas.microsoft.com/office/drawing/2014/main" val="384127965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Investment Fund / </a:t>
                      </a:r>
                      <a:r>
                        <a:rPr lang="en-US" sz="1100" b="0" i="1" u="none" strike="noStrike" kern="1200" dirty="0" err="1">
                          <a:solidFill>
                            <a:srgbClr val="000000"/>
                          </a:solidFill>
                          <a:effectLst/>
                          <a:latin typeface="Arial" panose="020B0604020202020204" pitchFamily="34" charset="0"/>
                          <a:ea typeface="Tahoma" panose="020B0604030504040204" pitchFamily="34" charset="0"/>
                          <a:cs typeface="Arial" panose="020B0604020202020204" pitchFamily="34" charset="0"/>
                        </a:rPr>
                        <a:t>Tradetech</a:t>
                      </a:r>
                      <a:endPar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153</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2.16M</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16426563"/>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Innovation Sustainable Economic Growth</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135</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3.54M</a:t>
                      </a:r>
                      <a:endPar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01117338"/>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Investment in New Economic Growth Sectors </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78</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2.45M</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4671606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Investment Innovations </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25</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3.78M</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2546663"/>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Educations Investments</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12</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3.41M</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0646593"/>
                  </a:ext>
                </a:extLst>
              </a:tr>
            </a:tbl>
          </a:graphicData>
        </a:graphic>
      </p:graphicFrame>
      <p:pic>
        <p:nvPicPr>
          <p:cNvPr id="29" name="Picture 28">
            <a:extLst>
              <a:ext uri="{FF2B5EF4-FFF2-40B4-BE49-F238E27FC236}">
                <a16:creationId xmlns:a16="http://schemas.microsoft.com/office/drawing/2014/main" id="{018C1623-6430-A237-4239-A930CBE20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253" y="2074093"/>
            <a:ext cx="6715125" cy="3498074"/>
          </a:xfrm>
          <a:prstGeom prst="rect">
            <a:avLst/>
          </a:prstGeom>
        </p:spPr>
      </p:pic>
    </p:spTree>
    <p:extLst>
      <p:ext uri="{BB962C8B-B14F-4D97-AF65-F5344CB8AC3E}">
        <p14:creationId xmlns:p14="http://schemas.microsoft.com/office/powerpoint/2010/main" val="2863063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D4F58-1C2B-113D-D4BE-98431B79B320}"/>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8F6D4EF6-1ED4-0F24-C42A-2F59EEEB3BDC}"/>
              </a:ext>
            </a:extLst>
          </p:cNvPr>
          <p:cNvSpPr/>
          <p:nvPr/>
        </p:nvSpPr>
        <p:spPr>
          <a:xfrm>
            <a:off x="413121" y="2074093"/>
            <a:ext cx="6724649" cy="3498074"/>
          </a:xfrm>
          <a:prstGeom prst="rect">
            <a:avLst/>
          </a:prstGeom>
          <a:solidFill>
            <a:schemeClr val="bg1">
              <a:lumMod val="95000"/>
            </a:schemeClr>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T" dirty="0">
              <a:latin typeface="Arial" panose="020B0604020202020204" pitchFamily="34" charset="0"/>
              <a:cs typeface="Arial" panose="020B0604020202020204" pitchFamily="34" charset="0"/>
            </a:endParaRPr>
          </a:p>
        </p:txBody>
      </p:sp>
      <p:sp>
        <p:nvSpPr>
          <p:cNvPr id="9" name="Subtitle 2">
            <a:extLst>
              <a:ext uri="{FF2B5EF4-FFF2-40B4-BE49-F238E27FC236}">
                <a16:creationId xmlns:a16="http://schemas.microsoft.com/office/drawing/2014/main" id="{2216991D-FD0D-46B4-F96A-AD72D2F07AB9}"/>
              </a:ext>
            </a:extLst>
          </p:cNvPr>
          <p:cNvSpPr txBox="1">
            <a:spLocks/>
          </p:cNvSpPr>
          <p:nvPr/>
        </p:nvSpPr>
        <p:spPr>
          <a:xfrm>
            <a:off x="7299433" y="3628802"/>
            <a:ext cx="4177017" cy="264586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defTabSz="457200" hangingPunct="0">
              <a:lnSpc>
                <a:spcPct val="120000"/>
              </a:lnSpc>
              <a:spcAft>
                <a:spcPts val="600"/>
              </a:spcAft>
              <a:buClr>
                <a:schemeClr val="accent1"/>
              </a:buClr>
            </a:pPr>
            <a:r>
              <a:rPr lang="en-US" sz="1400" b="1" dirty="0">
                <a:latin typeface="Calibri" panose="020F0502020204030204" pitchFamily="34" charset="0"/>
                <a:cs typeface="Calibri" panose="020F0502020204030204" pitchFamily="34" charset="0"/>
              </a:rPr>
              <a:t>Social media engagement was primarily driven by participation-related content, reflecting strong real-time interaction around event attendance and involvement.</a:t>
            </a:r>
          </a:p>
          <a:p>
            <a:pPr marL="171450" indent="-171450" algn="just" defTabSz="457200" hangingPunct="0">
              <a:lnSpc>
                <a:spcPct val="130000"/>
              </a:lnSpc>
              <a:spcAft>
                <a:spcPts val="600"/>
              </a:spcAft>
              <a:buClr>
                <a:schemeClr val="accent1"/>
              </a:buClr>
            </a:pPr>
            <a:r>
              <a:rPr lang="en-US" sz="1400" b="1" dirty="0">
                <a:latin typeface="Calibri" panose="020F0502020204030204" pitchFamily="34" charset="0"/>
                <a:cs typeface="Calibri" panose="020F0502020204030204" pitchFamily="34" charset="0"/>
              </a:rPr>
              <a:t>Investment-focused themes also generated significant engagement, demonstrating audience interest in tangible financial initiatives.</a:t>
            </a:r>
          </a:p>
          <a:p>
            <a:pPr marL="171450" indent="-171450" algn="just" defTabSz="457200" hangingPunct="0">
              <a:lnSpc>
                <a:spcPct val="130000"/>
              </a:lnSpc>
              <a:spcAft>
                <a:spcPts val="600"/>
              </a:spcAft>
              <a:buClr>
                <a:schemeClr val="accent1"/>
              </a:buClr>
            </a:pPr>
            <a:r>
              <a:rPr lang="en-US" sz="1400" b="1" dirty="0">
                <a:latin typeface="Calibri" panose="020F0502020204030204" pitchFamily="34" charset="0"/>
                <a:cs typeface="Calibri" panose="020F0502020204030204" pitchFamily="34" charset="0"/>
              </a:rPr>
              <a:t>Compared to traditional media’s strategic framing, social platforms emphasized execution, participation, and immediate outcomes.</a:t>
            </a:r>
          </a:p>
        </p:txBody>
      </p:sp>
      <p:sp>
        <p:nvSpPr>
          <p:cNvPr id="2" name="TextBox 1">
            <a:extLst>
              <a:ext uri="{FF2B5EF4-FFF2-40B4-BE49-F238E27FC236}">
                <a16:creationId xmlns:a16="http://schemas.microsoft.com/office/drawing/2014/main" id="{88B5A674-1EE6-4331-5F68-CA14B405C436}"/>
              </a:ext>
            </a:extLst>
          </p:cNvPr>
          <p:cNvSpPr txBox="1"/>
          <p:nvPr/>
        </p:nvSpPr>
        <p:spPr>
          <a:xfrm>
            <a:off x="340468" y="260414"/>
            <a:ext cx="6869957" cy="553998"/>
          </a:xfrm>
          <a:prstGeom prst="rect">
            <a:avLst/>
          </a:prstGeom>
          <a:noFill/>
        </p:spPr>
        <p:txBody>
          <a:bodyPr wrap="square" rtlCol="0">
            <a:spAutoFit/>
          </a:bodyPr>
          <a:lstStyle/>
          <a:p>
            <a:r>
              <a:rPr lang="en-US" sz="3000" b="1" dirty="0">
                <a:solidFill>
                  <a:srgbClr val="062F87"/>
                </a:solidFill>
                <a:latin typeface="Arial" panose="020B0604020202020204" pitchFamily="34" charset="0"/>
              </a:rPr>
              <a:t>Social Media Themes Analysis</a:t>
            </a:r>
            <a:endParaRPr lang="en-LB" sz="3000" b="1" dirty="0">
              <a:solidFill>
                <a:srgbClr val="062F87"/>
              </a:solidFill>
              <a:latin typeface="Arial" panose="020B0604020202020204" pitchFamily="34" charset="0"/>
            </a:endParaRPr>
          </a:p>
        </p:txBody>
      </p:sp>
      <p:graphicFrame>
        <p:nvGraphicFramePr>
          <p:cNvPr id="27" name="Table 21">
            <a:extLst>
              <a:ext uri="{FF2B5EF4-FFF2-40B4-BE49-F238E27FC236}">
                <a16:creationId xmlns:a16="http://schemas.microsoft.com/office/drawing/2014/main" id="{1A3702BB-2445-F91C-5687-9D1DC3FCC369}"/>
              </a:ext>
            </a:extLst>
          </p:cNvPr>
          <p:cNvGraphicFramePr>
            <a:graphicFrameLocks noGrp="1"/>
          </p:cNvGraphicFramePr>
          <p:nvPr>
            <p:extLst>
              <p:ext uri="{D42A27DB-BD31-4B8C-83A1-F6EECF244321}">
                <p14:modId xmlns:p14="http://schemas.microsoft.com/office/powerpoint/2010/main" val="511457739"/>
              </p:ext>
            </p:extLst>
          </p:nvPr>
        </p:nvGraphicFramePr>
        <p:xfrm>
          <a:off x="7366108" y="1162050"/>
          <a:ext cx="4511567" cy="2171702"/>
        </p:xfrm>
        <a:graphic>
          <a:graphicData uri="http://schemas.openxmlformats.org/drawingml/2006/table">
            <a:tbl>
              <a:tblPr firstRow="1" bandRow="1">
                <a:tableStyleId>{5C22544A-7EE6-4342-B048-85BDC9FD1C3A}</a:tableStyleId>
              </a:tblPr>
              <a:tblGrid>
                <a:gridCol w="1977917">
                  <a:extLst>
                    <a:ext uri="{9D8B030D-6E8A-4147-A177-3AD203B41FA5}">
                      <a16:colId xmlns:a16="http://schemas.microsoft.com/office/drawing/2014/main" val="1962646219"/>
                    </a:ext>
                  </a:extLst>
                </a:gridCol>
                <a:gridCol w="1029794">
                  <a:extLst>
                    <a:ext uri="{9D8B030D-6E8A-4147-A177-3AD203B41FA5}">
                      <a16:colId xmlns:a16="http://schemas.microsoft.com/office/drawing/2014/main" val="2389171925"/>
                    </a:ext>
                  </a:extLst>
                </a:gridCol>
                <a:gridCol w="1503856">
                  <a:extLst>
                    <a:ext uri="{9D8B030D-6E8A-4147-A177-3AD203B41FA5}">
                      <a16:colId xmlns:a16="http://schemas.microsoft.com/office/drawing/2014/main" val="4048593410"/>
                    </a:ext>
                  </a:extLst>
                </a:gridCol>
              </a:tblGrid>
              <a:tr h="346262">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Themes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Posts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Engagement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extLst>
                  <a:ext uri="{0D108BD9-81ED-4DB2-BD59-A6C34878D82A}">
                    <a16:rowId xmlns:a16="http://schemas.microsoft.com/office/drawing/2014/main" val="384127965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Participation</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156</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6.9K</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16426563"/>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Investments</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105</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5.3K</a:t>
                      </a:r>
                      <a:endPar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01117338"/>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Investment Fund</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62</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3.1K</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4671606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Economic Development</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45</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1.1K</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2546663"/>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Innovation</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25</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0.9K</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0646593"/>
                  </a:ext>
                </a:extLst>
              </a:tr>
            </a:tbl>
          </a:graphicData>
        </a:graphic>
      </p:graphicFrame>
      <p:pic>
        <p:nvPicPr>
          <p:cNvPr id="8" name="Picture 7">
            <a:extLst>
              <a:ext uri="{FF2B5EF4-FFF2-40B4-BE49-F238E27FC236}">
                <a16:creationId xmlns:a16="http://schemas.microsoft.com/office/drawing/2014/main" id="{BC608321-2408-7D16-E123-18F3C5CAF3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121" y="2103867"/>
            <a:ext cx="6581775" cy="3438525"/>
          </a:xfrm>
          <a:prstGeom prst="rect">
            <a:avLst/>
          </a:prstGeom>
        </p:spPr>
      </p:pic>
    </p:spTree>
    <p:extLst>
      <p:ext uri="{BB962C8B-B14F-4D97-AF65-F5344CB8AC3E}">
        <p14:creationId xmlns:p14="http://schemas.microsoft.com/office/powerpoint/2010/main" val="2657438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7762C-EC16-638F-55BC-5EEF8E104FF7}"/>
            </a:ext>
          </a:extLst>
        </p:cNvPr>
        <p:cNvGrpSpPr/>
        <p:nvPr/>
      </p:nvGrpSpPr>
      <p:grpSpPr>
        <a:xfrm>
          <a:off x="0" y="0"/>
          <a:ext cx="0" cy="0"/>
          <a:chOff x="0" y="0"/>
          <a:chExt cx="0" cy="0"/>
        </a:xfrm>
      </p:grpSpPr>
      <p:sp>
        <p:nvSpPr>
          <p:cNvPr id="9" name="Subtitle 2">
            <a:extLst>
              <a:ext uri="{FF2B5EF4-FFF2-40B4-BE49-F238E27FC236}">
                <a16:creationId xmlns:a16="http://schemas.microsoft.com/office/drawing/2014/main" id="{6266EF44-63C0-9EEE-16C0-992F54A0D3CE}"/>
              </a:ext>
            </a:extLst>
          </p:cNvPr>
          <p:cNvSpPr txBox="1">
            <a:spLocks/>
          </p:cNvSpPr>
          <p:nvPr/>
        </p:nvSpPr>
        <p:spPr>
          <a:xfrm>
            <a:off x="8331943" y="3833782"/>
            <a:ext cx="3469532" cy="158137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defTabSz="457200" hangingPunct="0">
              <a:lnSpc>
                <a:spcPct val="120000"/>
              </a:lnSpc>
              <a:spcAft>
                <a:spcPts val="600"/>
              </a:spcAft>
              <a:buClr>
                <a:schemeClr val="accent1"/>
              </a:buClr>
            </a:pPr>
            <a:r>
              <a:rPr lang="en-US" sz="1400" b="1" dirty="0">
                <a:latin typeface="Calibri" panose="020F0502020204030204" pitchFamily="34" charset="0"/>
                <a:cs typeface="Calibri" panose="020F0502020204030204" pitchFamily="34" charset="0"/>
              </a:rPr>
              <a:t>Media coverage was primarily concentrated in the UAE (589 articles), reflecting strong domestic positioning, with regional amplification across Egypt (124 articles) and Saudi Arabia (107 articles)</a:t>
            </a:r>
          </a:p>
        </p:txBody>
      </p:sp>
      <p:sp>
        <p:nvSpPr>
          <p:cNvPr id="2" name="TextBox 1">
            <a:extLst>
              <a:ext uri="{FF2B5EF4-FFF2-40B4-BE49-F238E27FC236}">
                <a16:creationId xmlns:a16="http://schemas.microsoft.com/office/drawing/2014/main" id="{974F56C2-F648-BF1D-85BF-8B5055B48B2C}"/>
              </a:ext>
            </a:extLst>
          </p:cNvPr>
          <p:cNvSpPr txBox="1"/>
          <p:nvPr/>
        </p:nvSpPr>
        <p:spPr>
          <a:xfrm>
            <a:off x="340468" y="260414"/>
            <a:ext cx="8908307" cy="553998"/>
          </a:xfrm>
          <a:prstGeom prst="rect">
            <a:avLst/>
          </a:prstGeom>
          <a:noFill/>
        </p:spPr>
        <p:txBody>
          <a:bodyPr wrap="square" rtlCol="0">
            <a:spAutoFit/>
          </a:bodyPr>
          <a:lstStyle/>
          <a:p>
            <a:r>
              <a:rPr lang="en-US" sz="3000" b="1" dirty="0">
                <a:solidFill>
                  <a:srgbClr val="062F87"/>
                </a:solidFill>
                <a:latin typeface="Arial" panose="020B0604020202020204" pitchFamily="34" charset="0"/>
              </a:rPr>
              <a:t>Traditional Media Vehicle &amp; Market Breakdown</a:t>
            </a:r>
            <a:endParaRPr lang="en-LB" sz="3000" b="1" dirty="0">
              <a:solidFill>
                <a:srgbClr val="062F87"/>
              </a:solidFill>
              <a:latin typeface="Arial" panose="020B0604020202020204" pitchFamily="34" charset="0"/>
            </a:endParaRPr>
          </a:p>
        </p:txBody>
      </p:sp>
      <p:graphicFrame>
        <p:nvGraphicFramePr>
          <p:cNvPr id="27" name="Table 21">
            <a:extLst>
              <a:ext uri="{FF2B5EF4-FFF2-40B4-BE49-F238E27FC236}">
                <a16:creationId xmlns:a16="http://schemas.microsoft.com/office/drawing/2014/main" id="{3C318285-6722-21E6-31D4-BA230A3C2931}"/>
              </a:ext>
            </a:extLst>
          </p:cNvPr>
          <p:cNvGraphicFramePr>
            <a:graphicFrameLocks noGrp="1"/>
          </p:cNvGraphicFramePr>
          <p:nvPr>
            <p:extLst>
              <p:ext uri="{D42A27DB-BD31-4B8C-83A1-F6EECF244321}">
                <p14:modId xmlns:p14="http://schemas.microsoft.com/office/powerpoint/2010/main" val="659821609"/>
              </p:ext>
            </p:extLst>
          </p:nvPr>
        </p:nvGraphicFramePr>
        <p:xfrm>
          <a:off x="8776154" y="1238246"/>
          <a:ext cx="2877644" cy="2171702"/>
        </p:xfrm>
        <a:graphic>
          <a:graphicData uri="http://schemas.openxmlformats.org/drawingml/2006/table">
            <a:tbl>
              <a:tblPr firstRow="1" bandRow="1">
                <a:tableStyleId>{5C22544A-7EE6-4342-B048-85BDC9FD1C3A}</a:tableStyleId>
              </a:tblPr>
              <a:tblGrid>
                <a:gridCol w="1609877">
                  <a:extLst>
                    <a:ext uri="{9D8B030D-6E8A-4147-A177-3AD203B41FA5}">
                      <a16:colId xmlns:a16="http://schemas.microsoft.com/office/drawing/2014/main" val="1962646219"/>
                    </a:ext>
                  </a:extLst>
                </a:gridCol>
                <a:gridCol w="1267767">
                  <a:extLst>
                    <a:ext uri="{9D8B030D-6E8A-4147-A177-3AD203B41FA5}">
                      <a16:colId xmlns:a16="http://schemas.microsoft.com/office/drawing/2014/main" val="2389171925"/>
                    </a:ext>
                  </a:extLst>
                </a:gridCol>
              </a:tblGrid>
              <a:tr h="346262">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Country</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Article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extLst>
                  <a:ext uri="{0D108BD9-81ED-4DB2-BD59-A6C34878D82A}">
                    <a16:rowId xmlns:a16="http://schemas.microsoft.com/office/drawing/2014/main" val="384127965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UAE</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589</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16426563"/>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Egypt</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124</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01117338"/>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Saudi Arabia</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107</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4671606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United States</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88</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2546663"/>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Italy</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38</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0646593"/>
                  </a:ext>
                </a:extLst>
              </a:tr>
            </a:tbl>
          </a:graphicData>
        </a:graphic>
      </p:graphicFrame>
      <p:graphicFrame>
        <p:nvGraphicFramePr>
          <p:cNvPr id="3" name="Table 21">
            <a:extLst>
              <a:ext uri="{FF2B5EF4-FFF2-40B4-BE49-F238E27FC236}">
                <a16:creationId xmlns:a16="http://schemas.microsoft.com/office/drawing/2014/main" id="{6B4C3207-DC41-F57C-5529-1E0970D0A060}"/>
              </a:ext>
            </a:extLst>
          </p:cNvPr>
          <p:cNvGraphicFramePr>
            <a:graphicFrameLocks noGrp="1"/>
          </p:cNvGraphicFramePr>
          <p:nvPr>
            <p:extLst>
              <p:ext uri="{D42A27DB-BD31-4B8C-83A1-F6EECF244321}">
                <p14:modId xmlns:p14="http://schemas.microsoft.com/office/powerpoint/2010/main" val="206892928"/>
              </p:ext>
            </p:extLst>
          </p:nvPr>
        </p:nvGraphicFramePr>
        <p:xfrm>
          <a:off x="536683" y="1257298"/>
          <a:ext cx="2882792" cy="2171702"/>
        </p:xfrm>
        <a:graphic>
          <a:graphicData uri="http://schemas.openxmlformats.org/drawingml/2006/table">
            <a:tbl>
              <a:tblPr firstRow="1" bandRow="1">
                <a:tableStyleId>{5C22544A-7EE6-4342-B048-85BDC9FD1C3A}</a:tableStyleId>
              </a:tblPr>
              <a:tblGrid>
                <a:gridCol w="1713181">
                  <a:extLst>
                    <a:ext uri="{9D8B030D-6E8A-4147-A177-3AD203B41FA5}">
                      <a16:colId xmlns:a16="http://schemas.microsoft.com/office/drawing/2014/main" val="1962646219"/>
                    </a:ext>
                  </a:extLst>
                </a:gridCol>
                <a:gridCol w="1169611">
                  <a:extLst>
                    <a:ext uri="{9D8B030D-6E8A-4147-A177-3AD203B41FA5}">
                      <a16:colId xmlns:a16="http://schemas.microsoft.com/office/drawing/2014/main" val="2389171925"/>
                    </a:ext>
                  </a:extLst>
                </a:gridCol>
              </a:tblGrid>
              <a:tr h="346262">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Outlet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Articles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extLst>
                  <a:ext uri="{0D108BD9-81ED-4DB2-BD59-A6C34878D82A}">
                    <a16:rowId xmlns:a16="http://schemas.microsoft.com/office/drawing/2014/main" val="384127965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Nabd (EG)</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43</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16426563"/>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UAE News App (AR)</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28</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01117338"/>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Zaya (EN)</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22</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4671606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Press News</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21</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2546663"/>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Khaleej Voice</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19</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0646593"/>
                  </a:ext>
                </a:extLst>
              </a:tr>
            </a:tbl>
          </a:graphicData>
        </a:graphic>
      </p:graphicFrame>
      <p:graphicFrame>
        <p:nvGraphicFramePr>
          <p:cNvPr id="5" name="Table 21">
            <a:extLst>
              <a:ext uri="{FF2B5EF4-FFF2-40B4-BE49-F238E27FC236}">
                <a16:creationId xmlns:a16="http://schemas.microsoft.com/office/drawing/2014/main" id="{1541781E-B220-8806-F079-60010AF4EDEE}"/>
              </a:ext>
            </a:extLst>
          </p:cNvPr>
          <p:cNvGraphicFramePr>
            <a:graphicFrameLocks noGrp="1"/>
          </p:cNvGraphicFramePr>
          <p:nvPr>
            <p:extLst>
              <p:ext uri="{D42A27DB-BD31-4B8C-83A1-F6EECF244321}">
                <p14:modId xmlns:p14="http://schemas.microsoft.com/office/powerpoint/2010/main" val="1979909175"/>
              </p:ext>
            </p:extLst>
          </p:nvPr>
        </p:nvGraphicFramePr>
        <p:xfrm>
          <a:off x="4517485" y="1238246"/>
          <a:ext cx="3160658" cy="2171702"/>
        </p:xfrm>
        <a:graphic>
          <a:graphicData uri="http://schemas.openxmlformats.org/drawingml/2006/table">
            <a:tbl>
              <a:tblPr firstRow="1" bandRow="1">
                <a:tableStyleId>{5C22544A-7EE6-4342-B048-85BDC9FD1C3A}</a:tableStyleId>
              </a:tblPr>
              <a:tblGrid>
                <a:gridCol w="1659865">
                  <a:extLst>
                    <a:ext uri="{9D8B030D-6E8A-4147-A177-3AD203B41FA5}">
                      <a16:colId xmlns:a16="http://schemas.microsoft.com/office/drawing/2014/main" val="1962646219"/>
                    </a:ext>
                  </a:extLst>
                </a:gridCol>
                <a:gridCol w="1500793">
                  <a:extLst>
                    <a:ext uri="{9D8B030D-6E8A-4147-A177-3AD203B41FA5}">
                      <a16:colId xmlns:a16="http://schemas.microsoft.com/office/drawing/2014/main" val="2389171925"/>
                    </a:ext>
                  </a:extLst>
                </a:gridCol>
              </a:tblGrid>
              <a:tr h="346262">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Outlet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Impressions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extLst>
                  <a:ext uri="{0D108BD9-81ED-4DB2-BD59-A6C34878D82A}">
                    <a16:rowId xmlns:a16="http://schemas.microsoft.com/office/drawing/2014/main" val="384127965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Al Khaleej</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3.21M</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16426563"/>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Al Etihad</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2.94M</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01117338"/>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CNN</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2.83M</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46716069"/>
                  </a:ext>
                </a:extLst>
              </a:tr>
              <a:tr h="365088">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Nabd (EG)</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2.33M</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2546663"/>
                  </a:ext>
                </a:extLst>
              </a:tr>
              <a:tr h="365088">
                <a:tc>
                  <a:txBody>
                    <a:bodyPr/>
                    <a:lstStyle/>
                    <a:p>
                      <a:pPr marL="0" algn="ctr" defTabSz="914400" rtl="0" eaLnBrk="1" fontAlgn="b" latinLnBrk="0" hangingPunct="1"/>
                      <a:r>
                        <a:rPr lang="en-US" sz="1100" b="0" i="1" u="none" strike="noStrike" kern="1200" dirty="0" err="1">
                          <a:solidFill>
                            <a:srgbClr val="000000"/>
                          </a:solidFill>
                          <a:effectLst/>
                          <a:latin typeface="Arial" panose="020B0604020202020204" pitchFamily="34" charset="0"/>
                          <a:ea typeface="Tahoma" panose="020B0604030504040204" pitchFamily="34" charset="0"/>
                          <a:cs typeface="Arial" panose="020B0604020202020204" pitchFamily="34" charset="0"/>
                        </a:rPr>
                        <a:t>TradingView</a:t>
                      </a:r>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 (US)</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2.28M</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0646593"/>
                  </a:ext>
                </a:extLst>
              </a:tr>
            </a:tbl>
          </a:graphicData>
        </a:graphic>
      </p:graphicFrame>
      <p:sp>
        <p:nvSpPr>
          <p:cNvPr id="6" name="Subtitle 2">
            <a:extLst>
              <a:ext uri="{FF2B5EF4-FFF2-40B4-BE49-F238E27FC236}">
                <a16:creationId xmlns:a16="http://schemas.microsoft.com/office/drawing/2014/main" id="{D2833F9F-F577-122B-7FE0-525A06A12BA7}"/>
              </a:ext>
            </a:extLst>
          </p:cNvPr>
          <p:cNvSpPr txBox="1">
            <a:spLocks/>
          </p:cNvSpPr>
          <p:nvPr/>
        </p:nvSpPr>
        <p:spPr>
          <a:xfrm>
            <a:off x="390526" y="3871886"/>
            <a:ext cx="3469532" cy="15813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defTabSz="457200" hangingPunct="0">
              <a:lnSpc>
                <a:spcPct val="120000"/>
              </a:lnSpc>
              <a:spcAft>
                <a:spcPts val="600"/>
              </a:spcAft>
              <a:buClr>
                <a:schemeClr val="accent1"/>
              </a:buClr>
            </a:pPr>
            <a:r>
              <a:rPr lang="en-US" sz="1400" b="1" dirty="0">
                <a:latin typeface="Calibri" panose="020F0502020204030204" pitchFamily="34" charset="0"/>
                <a:cs typeface="Calibri" panose="020F0502020204030204" pitchFamily="34" charset="0"/>
              </a:rPr>
              <a:t>In terms of article volume, digital and aggregator platforms such as Nabd (Egypt), UAE News App, and Zawya contributed significantly to distribution, indicating strong digital pickup.</a:t>
            </a:r>
          </a:p>
        </p:txBody>
      </p:sp>
      <p:sp>
        <p:nvSpPr>
          <p:cNvPr id="10" name="Subtitle 2">
            <a:extLst>
              <a:ext uri="{FF2B5EF4-FFF2-40B4-BE49-F238E27FC236}">
                <a16:creationId xmlns:a16="http://schemas.microsoft.com/office/drawing/2014/main" id="{F3B0D4CB-FDFE-EA80-4AD2-BB13A359DFF6}"/>
              </a:ext>
            </a:extLst>
          </p:cNvPr>
          <p:cNvSpPr txBox="1">
            <a:spLocks/>
          </p:cNvSpPr>
          <p:nvPr/>
        </p:nvSpPr>
        <p:spPr>
          <a:xfrm>
            <a:off x="4361234" y="3833781"/>
            <a:ext cx="3469532" cy="24908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defTabSz="457200" hangingPunct="0">
              <a:lnSpc>
                <a:spcPct val="120000"/>
              </a:lnSpc>
              <a:spcAft>
                <a:spcPts val="600"/>
              </a:spcAft>
              <a:buClr>
                <a:schemeClr val="accent1"/>
              </a:buClr>
            </a:pPr>
            <a:r>
              <a:rPr lang="en-US" sz="1400" b="1" dirty="0">
                <a:latin typeface="Calibri" panose="020F0502020204030204" pitchFamily="34" charset="0"/>
                <a:cs typeface="Calibri" panose="020F0502020204030204" pitchFamily="34" charset="0"/>
              </a:rPr>
              <a:t>Influence weight was concentrated within key institutional outlets, particularly Al Khaleej (3.2M impressions), followed closely by Al Etihad (2.9M impressions),  and CNN (2.8M impressions), demonstrating that audience reach was driven by established national and international media rather than digital aggregators. </a:t>
            </a:r>
          </a:p>
        </p:txBody>
      </p:sp>
    </p:spTree>
    <p:extLst>
      <p:ext uri="{BB962C8B-B14F-4D97-AF65-F5344CB8AC3E}">
        <p14:creationId xmlns:p14="http://schemas.microsoft.com/office/powerpoint/2010/main" val="3854033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1D3FA-C831-47AE-1D3C-B4D3558BF343}"/>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174BCD3D-A4E1-9356-458A-03E25201B857}"/>
              </a:ext>
            </a:extLst>
          </p:cNvPr>
          <p:cNvSpPr/>
          <p:nvPr/>
        </p:nvSpPr>
        <p:spPr>
          <a:xfrm>
            <a:off x="842191" y="1038225"/>
            <a:ext cx="3369885" cy="251237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T"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D2DDBBA-DAFE-FA3A-41B2-C99796E27914}"/>
              </a:ext>
            </a:extLst>
          </p:cNvPr>
          <p:cNvSpPr txBox="1"/>
          <p:nvPr/>
        </p:nvSpPr>
        <p:spPr>
          <a:xfrm>
            <a:off x="340468" y="260414"/>
            <a:ext cx="8908307" cy="553998"/>
          </a:xfrm>
          <a:prstGeom prst="rect">
            <a:avLst/>
          </a:prstGeom>
          <a:noFill/>
        </p:spPr>
        <p:txBody>
          <a:bodyPr wrap="square" rtlCol="0">
            <a:spAutoFit/>
          </a:bodyPr>
          <a:lstStyle/>
          <a:p>
            <a:r>
              <a:rPr lang="en-US" sz="3000" b="1" dirty="0">
                <a:solidFill>
                  <a:srgbClr val="062F87"/>
                </a:solidFill>
                <a:latin typeface="Arial" panose="020B0604020202020204" pitchFamily="34" charset="0"/>
              </a:rPr>
              <a:t>Social Media Platform &amp; Influencer Breakdown</a:t>
            </a:r>
            <a:endParaRPr lang="en-LB" sz="3000" b="1" dirty="0">
              <a:solidFill>
                <a:srgbClr val="062F87"/>
              </a:solidFill>
              <a:latin typeface="Arial" panose="020B0604020202020204" pitchFamily="34" charset="0"/>
            </a:endParaRPr>
          </a:p>
        </p:txBody>
      </p:sp>
      <p:graphicFrame>
        <p:nvGraphicFramePr>
          <p:cNvPr id="27" name="Table 21">
            <a:extLst>
              <a:ext uri="{FF2B5EF4-FFF2-40B4-BE49-F238E27FC236}">
                <a16:creationId xmlns:a16="http://schemas.microsoft.com/office/drawing/2014/main" id="{15F82B12-7D5F-EE04-BE71-7C5E252B2452}"/>
              </a:ext>
            </a:extLst>
          </p:cNvPr>
          <p:cNvGraphicFramePr>
            <a:graphicFrameLocks noGrp="1"/>
          </p:cNvGraphicFramePr>
          <p:nvPr>
            <p:extLst>
              <p:ext uri="{D42A27DB-BD31-4B8C-83A1-F6EECF244321}">
                <p14:modId xmlns:p14="http://schemas.microsoft.com/office/powerpoint/2010/main" val="2761324922"/>
              </p:ext>
            </p:extLst>
          </p:nvPr>
        </p:nvGraphicFramePr>
        <p:xfrm>
          <a:off x="917618" y="3978458"/>
          <a:ext cx="3674214" cy="2216702"/>
        </p:xfrm>
        <a:graphic>
          <a:graphicData uri="http://schemas.openxmlformats.org/drawingml/2006/table">
            <a:tbl>
              <a:tblPr firstRow="1" bandRow="1">
                <a:tableStyleId>{5C22544A-7EE6-4342-B048-85BDC9FD1C3A}</a:tableStyleId>
              </a:tblPr>
              <a:tblGrid>
                <a:gridCol w="2055512">
                  <a:extLst>
                    <a:ext uri="{9D8B030D-6E8A-4147-A177-3AD203B41FA5}">
                      <a16:colId xmlns:a16="http://schemas.microsoft.com/office/drawing/2014/main" val="1962646219"/>
                    </a:ext>
                  </a:extLst>
                </a:gridCol>
                <a:gridCol w="1618702">
                  <a:extLst>
                    <a:ext uri="{9D8B030D-6E8A-4147-A177-3AD203B41FA5}">
                      <a16:colId xmlns:a16="http://schemas.microsoft.com/office/drawing/2014/main" val="2389171925"/>
                    </a:ext>
                  </a:extLst>
                </a:gridCol>
              </a:tblGrid>
              <a:tr h="353437">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Handle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tc>
                  <a:txBody>
                    <a:bodyPr/>
                    <a:lstStyle/>
                    <a:p>
                      <a:pPr algn="ctr"/>
                      <a:r>
                        <a:rPr lang="en-US" sz="1200" dirty="0">
                          <a:latin typeface="Arial" panose="020B0604020202020204" pitchFamily="34" charset="0"/>
                          <a:ea typeface="Tahoma" panose="020B0604030504040204" pitchFamily="34" charset="0"/>
                          <a:cs typeface="Arial" panose="020B0604020202020204" pitchFamily="34" charset="0"/>
                        </a:rPr>
                        <a:t>Engagement</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62F87"/>
                    </a:solidFill>
                  </a:tcPr>
                </a:tc>
                <a:extLst>
                  <a:ext uri="{0D108BD9-81ED-4DB2-BD59-A6C34878D82A}">
                    <a16:rowId xmlns:a16="http://schemas.microsoft.com/office/drawing/2014/main" val="3841279659"/>
                  </a:ext>
                </a:extLst>
              </a:tr>
              <a:tr h="372653">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Iota</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968</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16426563"/>
                  </a:ext>
                </a:extLst>
              </a:tr>
              <a:tr h="372653">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Mubadala</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949</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01117338"/>
                  </a:ext>
                </a:extLst>
              </a:tr>
              <a:tr h="372653">
                <a:tc>
                  <a:txBody>
                    <a:bodyPr/>
                    <a:lstStyle/>
                    <a:p>
                      <a:pPr marL="0" algn="ctr" defTabSz="914400" rtl="0" eaLnBrk="1" fontAlgn="b" latinLnBrk="0" hangingPunct="1"/>
                      <a:r>
                        <a:rPr lang="en-US" sz="1100" b="0" i="1" u="none" strike="noStrike" kern="1200" dirty="0" err="1">
                          <a:solidFill>
                            <a:srgbClr val="000000"/>
                          </a:solidFill>
                          <a:effectLst/>
                          <a:latin typeface="Arial" panose="020B0604020202020204" pitchFamily="34" charset="0"/>
                          <a:ea typeface="Tahoma" panose="020B0604030504040204" pitchFamily="34" charset="0"/>
                          <a:cs typeface="Arial" panose="020B0604020202020204" pitchFamily="34" charset="0"/>
                        </a:rPr>
                        <a:t>Yarakhdairofficial</a:t>
                      </a:r>
                      <a:endPar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879</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46716069"/>
                  </a:ext>
                </a:extLst>
              </a:tr>
              <a:tr h="372653">
                <a:tc>
                  <a:txBody>
                    <a:bodyPr/>
                    <a:lstStyle/>
                    <a:p>
                      <a:pPr marL="0" algn="ctr" defTabSz="914400" rtl="0" eaLnBrk="1" fontAlgn="b" latinLnBrk="0" hangingPunct="1"/>
                      <a:r>
                        <a:rPr lang="en-US" sz="1100" b="0" i="1" u="none" strike="noStrike" kern="1200" dirty="0" err="1">
                          <a:solidFill>
                            <a:srgbClr val="000000"/>
                          </a:solidFill>
                          <a:effectLst/>
                          <a:latin typeface="Arial" panose="020B0604020202020204" pitchFamily="34" charset="0"/>
                          <a:ea typeface="Tahoma" panose="020B0604030504040204" pitchFamily="34" charset="0"/>
                          <a:cs typeface="Arial" panose="020B0604020202020204" pitchFamily="34" charset="0"/>
                        </a:rPr>
                        <a:t>Nathaliemamo</a:t>
                      </a:r>
                      <a:endPar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878</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2546663"/>
                  </a:ext>
                </a:extLst>
              </a:tr>
              <a:tr h="372653">
                <a:tc>
                  <a:txBody>
                    <a:bodyPr/>
                    <a:lstStyle/>
                    <a:p>
                      <a:pPr marL="0" algn="ctr" defTabSz="914400" rtl="0" eaLnBrk="1" fontAlgn="b" latinLnBrk="0" hangingPunct="1"/>
                      <a:r>
                        <a:rPr lang="en-US" sz="1100" b="0" i="1" u="none" strike="noStrike" kern="1200" dirty="0">
                          <a:solidFill>
                            <a:srgbClr val="000000"/>
                          </a:solidFill>
                          <a:effectLst/>
                          <a:latin typeface="Arial" panose="020B0604020202020204" pitchFamily="34" charset="0"/>
                          <a:ea typeface="Tahoma" panose="020B0604030504040204" pitchFamily="34" charset="0"/>
                          <a:cs typeface="Arial" panose="020B0604020202020204" pitchFamily="34" charset="0"/>
                        </a:rPr>
                        <a:t>WAMNEWS_ENG</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algn="ctr" defTabSz="914400" rtl="0" eaLnBrk="1" fontAlgn="b" latinLnBrk="0" hangingPunct="1"/>
                      <a:r>
                        <a:rPr lang="en-US" sz="1100" kern="1200" dirty="0">
                          <a:solidFill>
                            <a:schemeClr val="dk1"/>
                          </a:solidFill>
                          <a:latin typeface="Arial" panose="020B0604020202020204" pitchFamily="34" charset="0"/>
                          <a:ea typeface="Tahoma" panose="020B0604030504040204" pitchFamily="34" charset="0"/>
                          <a:cs typeface="Arial" panose="020B0604020202020204" pitchFamily="34" charset="0"/>
                        </a:rPr>
                        <a:t>776</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60646593"/>
                  </a:ext>
                </a:extLst>
              </a:tr>
            </a:tbl>
          </a:graphicData>
        </a:graphic>
      </p:graphicFrame>
      <p:sp>
        <p:nvSpPr>
          <p:cNvPr id="6" name="Subtitle 2">
            <a:extLst>
              <a:ext uri="{FF2B5EF4-FFF2-40B4-BE49-F238E27FC236}">
                <a16:creationId xmlns:a16="http://schemas.microsoft.com/office/drawing/2014/main" id="{000DA40B-B7B9-E88E-56B3-68341EC23EBE}"/>
              </a:ext>
            </a:extLst>
          </p:cNvPr>
          <p:cNvSpPr txBox="1">
            <a:spLocks/>
          </p:cNvSpPr>
          <p:nvPr/>
        </p:nvSpPr>
        <p:spPr>
          <a:xfrm>
            <a:off x="5018901" y="1846625"/>
            <a:ext cx="6330907" cy="282386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just" defTabSz="457200" hangingPunct="0">
              <a:lnSpc>
                <a:spcPct val="100000"/>
              </a:lnSpc>
              <a:spcAft>
                <a:spcPts val="600"/>
              </a:spcAft>
              <a:buClr>
                <a:schemeClr val="accent1"/>
              </a:buClr>
            </a:pPr>
            <a:r>
              <a:rPr lang="en-US" sz="1300" b="1" dirty="0">
                <a:latin typeface="Calibri" panose="020F0502020204030204" pitchFamily="34" charset="0"/>
                <a:cs typeface="Calibri" panose="020F0502020204030204" pitchFamily="34" charset="0"/>
              </a:rPr>
              <a:t>LinkedIn emerged as the dominant platform in both volume and engagement, highlighting </a:t>
            </a:r>
            <a:r>
              <a:rPr lang="en-US" sz="1300" b="1" dirty="0" err="1">
                <a:latin typeface="Calibri" panose="020F0502020204030204" pitchFamily="34" charset="0"/>
                <a:cs typeface="Calibri" panose="020F0502020204030204" pitchFamily="34" charset="0"/>
              </a:rPr>
              <a:t>Investopia’s</a:t>
            </a:r>
            <a:r>
              <a:rPr lang="en-US" sz="1300" b="1" dirty="0">
                <a:latin typeface="Calibri" panose="020F0502020204030204" pitchFamily="34" charset="0"/>
                <a:cs typeface="Calibri" panose="020F0502020204030204" pitchFamily="34" charset="0"/>
              </a:rPr>
              <a:t> strong resonance within professional and investment-focused audiences.</a:t>
            </a:r>
          </a:p>
          <a:p>
            <a:pPr marL="171450" indent="-171450" algn="just" defTabSz="457200" hangingPunct="0">
              <a:lnSpc>
                <a:spcPct val="100000"/>
              </a:lnSpc>
              <a:spcAft>
                <a:spcPts val="600"/>
              </a:spcAft>
              <a:buClr>
                <a:schemeClr val="accent1"/>
              </a:buClr>
            </a:pPr>
            <a:r>
              <a:rPr lang="en-US" sz="1300" b="1" dirty="0">
                <a:latin typeface="Calibri" panose="020F0502020204030204" pitchFamily="34" charset="0"/>
                <a:cs typeface="Calibri" panose="020F0502020204030204" pitchFamily="34" charset="0"/>
              </a:rPr>
              <a:t>Engagement was driven not only by official activity but also by ecosystem and institutional accounts, including IOTA, Mubadala, and </a:t>
            </a:r>
            <a:r>
              <a:rPr lang="en-US" sz="1300" b="1" dirty="0" err="1">
                <a:latin typeface="Calibri" panose="020F0502020204030204" pitchFamily="34" charset="0"/>
                <a:cs typeface="Calibri" panose="020F0502020204030204" pitchFamily="34" charset="0"/>
              </a:rPr>
              <a:t>Yarakhdairofficial</a:t>
            </a:r>
            <a:r>
              <a:rPr lang="en-US" sz="1300" b="1" dirty="0">
                <a:latin typeface="Calibri" panose="020F0502020204030204" pitchFamily="34" charset="0"/>
                <a:cs typeface="Calibri" panose="020F0502020204030204" pitchFamily="34" charset="0"/>
              </a:rPr>
              <a:t>, reflecting strong stakeholder amplification.</a:t>
            </a:r>
          </a:p>
          <a:p>
            <a:pPr marL="171450" indent="-171450" algn="just" defTabSz="457200" hangingPunct="0">
              <a:lnSpc>
                <a:spcPct val="100000"/>
              </a:lnSpc>
              <a:spcAft>
                <a:spcPts val="600"/>
              </a:spcAft>
              <a:buClr>
                <a:schemeClr val="accent1"/>
              </a:buClr>
            </a:pPr>
            <a:r>
              <a:rPr lang="en-US" sz="1300" b="1" dirty="0">
                <a:latin typeface="Calibri" panose="020F0502020204030204" pitchFamily="34" charset="0"/>
                <a:cs typeface="Calibri" panose="020F0502020204030204" pitchFamily="34" charset="0"/>
              </a:rPr>
              <a:t>The prominence of institutional handles suggests that </a:t>
            </a:r>
            <a:r>
              <a:rPr lang="en-US" sz="1300" b="1" dirty="0" err="1">
                <a:latin typeface="Calibri" panose="020F0502020204030204" pitchFamily="34" charset="0"/>
                <a:cs typeface="Calibri" panose="020F0502020204030204" pitchFamily="34" charset="0"/>
              </a:rPr>
              <a:t>Investopia’s</a:t>
            </a:r>
            <a:r>
              <a:rPr lang="en-US" sz="1300" b="1" dirty="0">
                <a:latin typeface="Calibri" panose="020F0502020204030204" pitchFamily="34" charset="0"/>
                <a:cs typeface="Calibri" panose="020F0502020204030204" pitchFamily="34" charset="0"/>
              </a:rPr>
              <a:t> messaging is embedded within a broader economic and innovation network, reinforcing credibility and influence.</a:t>
            </a:r>
          </a:p>
          <a:p>
            <a:pPr marL="171450" indent="-171450" algn="just" defTabSz="457200" hangingPunct="0">
              <a:lnSpc>
                <a:spcPct val="100000"/>
              </a:lnSpc>
              <a:spcAft>
                <a:spcPts val="600"/>
              </a:spcAft>
              <a:buClr>
                <a:schemeClr val="accent1"/>
              </a:buClr>
            </a:pPr>
            <a:r>
              <a:rPr lang="en-US" sz="1300" b="1" dirty="0">
                <a:latin typeface="Calibri" panose="020F0502020204030204" pitchFamily="34" charset="0"/>
                <a:cs typeface="Calibri" panose="020F0502020204030204" pitchFamily="34" charset="0"/>
              </a:rPr>
              <a:t>Compared to other platforms, LinkedIn functioned as the primary channel for structured investment dialogue rather than informal social interaction.</a:t>
            </a:r>
          </a:p>
        </p:txBody>
      </p:sp>
      <p:sp>
        <p:nvSpPr>
          <p:cNvPr id="4" name="TextBox 3">
            <a:extLst>
              <a:ext uri="{FF2B5EF4-FFF2-40B4-BE49-F238E27FC236}">
                <a16:creationId xmlns:a16="http://schemas.microsoft.com/office/drawing/2014/main" id="{A8DD425B-0687-47C1-6B36-DFDE024B6FDC}"/>
              </a:ext>
            </a:extLst>
          </p:cNvPr>
          <p:cNvSpPr txBox="1"/>
          <p:nvPr/>
        </p:nvSpPr>
        <p:spPr>
          <a:xfrm>
            <a:off x="1090894" y="1135918"/>
            <a:ext cx="2752888" cy="323165"/>
          </a:xfrm>
          <a:prstGeom prst="rect">
            <a:avLst/>
          </a:prstGeom>
          <a:noFill/>
        </p:spPr>
        <p:txBody>
          <a:bodyPr wrap="square" rtlCol="0">
            <a:spAutoFit/>
          </a:bodyPr>
          <a:lstStyle/>
          <a:p>
            <a:pPr algn="ctr"/>
            <a:r>
              <a:rPr lang="en-US" sz="1500" b="1" dirty="0">
                <a:solidFill>
                  <a:srgbClr val="CC9F52"/>
                </a:solidFill>
                <a:latin typeface="Arial" panose="020B0604020202020204" pitchFamily="34" charset="0"/>
              </a:rPr>
              <a:t>Media Platform Breakdown</a:t>
            </a:r>
            <a:endParaRPr lang="en-LB" sz="1500" b="1" dirty="0">
              <a:solidFill>
                <a:srgbClr val="CC9F52"/>
              </a:solidFill>
              <a:latin typeface="Arial" panose="020B0604020202020204" pitchFamily="34" charset="0"/>
            </a:endParaRPr>
          </a:p>
        </p:txBody>
      </p:sp>
      <p:grpSp>
        <p:nvGrpSpPr>
          <p:cNvPr id="8" name="Group 7">
            <a:extLst>
              <a:ext uri="{FF2B5EF4-FFF2-40B4-BE49-F238E27FC236}">
                <a16:creationId xmlns:a16="http://schemas.microsoft.com/office/drawing/2014/main" id="{13781EAD-40FE-11B6-1197-2A209282FDEE}"/>
              </a:ext>
            </a:extLst>
          </p:cNvPr>
          <p:cNvGrpSpPr/>
          <p:nvPr/>
        </p:nvGrpSpPr>
        <p:grpSpPr>
          <a:xfrm>
            <a:off x="1508851" y="1506871"/>
            <a:ext cx="1086597" cy="656730"/>
            <a:chOff x="10644245" y="2118177"/>
            <a:chExt cx="1349527" cy="815643"/>
          </a:xfrm>
        </p:grpSpPr>
        <p:cxnSp>
          <p:nvCxnSpPr>
            <p:cNvPr id="10" name="Straight Connector 9">
              <a:extLst>
                <a:ext uri="{FF2B5EF4-FFF2-40B4-BE49-F238E27FC236}">
                  <a16:creationId xmlns:a16="http://schemas.microsoft.com/office/drawing/2014/main" id="{C33CF103-88E7-A473-6689-F8BE2968813B}"/>
                </a:ext>
              </a:extLst>
            </p:cNvPr>
            <p:cNvCxnSpPr>
              <a:cxnSpLocks/>
            </p:cNvCxnSpPr>
            <p:nvPr/>
          </p:nvCxnSpPr>
          <p:spPr>
            <a:xfrm>
              <a:off x="10764319" y="2118177"/>
              <a:ext cx="0" cy="79767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373038E-FB46-DD5A-F35A-0BCF9CB07D79}"/>
                </a:ext>
              </a:extLst>
            </p:cNvPr>
            <p:cNvSpPr txBox="1"/>
            <p:nvPr/>
          </p:nvSpPr>
          <p:spPr>
            <a:xfrm>
              <a:off x="10803356" y="2118177"/>
              <a:ext cx="1031307" cy="649827"/>
            </a:xfrm>
            <a:prstGeom prst="rect">
              <a:avLst/>
            </a:prstGeom>
            <a:noFill/>
          </p:spPr>
          <p:txBody>
            <a:bodyPr wrap="square" rtlCol="0">
              <a:spAutoFit/>
            </a:bodyPr>
            <a:lstStyle/>
            <a:p>
              <a:pPr algn="ctr"/>
              <a:r>
                <a:rPr lang="en-US" sz="2800" b="1" dirty="0">
                  <a:solidFill>
                    <a:srgbClr val="062F87"/>
                  </a:solidFill>
                  <a:latin typeface="Arial" panose="020B0604020202020204" pitchFamily="34" charset="0"/>
                  <a:cs typeface="Arial" panose="020B0604020202020204" pitchFamily="34" charset="0"/>
                </a:rPr>
                <a:t>284</a:t>
              </a:r>
              <a:endParaRPr lang="en-LB" sz="3000" b="1" dirty="0">
                <a:solidFill>
                  <a:srgbClr val="062F87"/>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6467C60C-4EA9-0F8C-A291-A57998FDB913}"/>
                </a:ext>
              </a:extLst>
            </p:cNvPr>
            <p:cNvSpPr txBox="1"/>
            <p:nvPr/>
          </p:nvSpPr>
          <p:spPr>
            <a:xfrm>
              <a:off x="10644245" y="2666244"/>
              <a:ext cx="1349527" cy="267576"/>
            </a:xfrm>
            <a:prstGeom prst="rect">
              <a:avLst/>
            </a:prstGeom>
            <a:noFill/>
          </p:spPr>
          <p:txBody>
            <a:bodyPr wrap="square" rtlCol="0">
              <a:spAutoFit/>
            </a:bodyPr>
            <a:lstStyle/>
            <a:p>
              <a:pPr algn="ctr"/>
              <a:r>
                <a:rPr lang="en-US" sz="800" dirty="0">
                  <a:solidFill>
                    <a:srgbClr val="062F87"/>
                  </a:solidFill>
                  <a:latin typeface="Arial" panose="020B0604020202020204" pitchFamily="34" charset="0"/>
                  <a:cs typeface="Arial" panose="020B0604020202020204" pitchFamily="34" charset="0"/>
                </a:rPr>
                <a:t>POSTS</a:t>
              </a:r>
              <a:endParaRPr lang="en-LB" sz="800" dirty="0">
                <a:solidFill>
                  <a:srgbClr val="062F87"/>
                </a:solidFill>
                <a:latin typeface="Arial" panose="020B0604020202020204" pitchFamily="34" charset="0"/>
                <a:cs typeface="Arial" panose="020B0604020202020204" pitchFamily="34" charset="0"/>
              </a:endParaRPr>
            </a:p>
          </p:txBody>
        </p:sp>
      </p:grpSp>
      <p:pic>
        <p:nvPicPr>
          <p:cNvPr id="13" name="Picture 2">
            <a:extLst>
              <a:ext uri="{FF2B5EF4-FFF2-40B4-BE49-F238E27FC236}">
                <a16:creationId xmlns:a16="http://schemas.microsoft.com/office/drawing/2014/main" id="{ED74BE40-E492-0B5C-9AE9-4141EA9583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8525" y="1624633"/>
            <a:ext cx="318473" cy="31847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a:extLst>
              <a:ext uri="{FF2B5EF4-FFF2-40B4-BE49-F238E27FC236}">
                <a16:creationId xmlns:a16="http://schemas.microsoft.com/office/drawing/2014/main" id="{E2DBE239-E412-FBFB-9F7D-26CB9883B8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917618" y="2328600"/>
            <a:ext cx="447694" cy="251828"/>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9BF7B324-47E5-7B5F-F157-4239FCCE499E}"/>
              </a:ext>
            </a:extLst>
          </p:cNvPr>
          <p:cNvGrpSpPr/>
          <p:nvPr/>
        </p:nvGrpSpPr>
        <p:grpSpPr>
          <a:xfrm>
            <a:off x="1508851" y="2173790"/>
            <a:ext cx="1086597" cy="656730"/>
            <a:chOff x="10650636" y="2990764"/>
            <a:chExt cx="1349527" cy="815643"/>
          </a:xfrm>
        </p:grpSpPr>
        <p:cxnSp>
          <p:nvCxnSpPr>
            <p:cNvPr id="16" name="Straight Connector 15">
              <a:extLst>
                <a:ext uri="{FF2B5EF4-FFF2-40B4-BE49-F238E27FC236}">
                  <a16:creationId xmlns:a16="http://schemas.microsoft.com/office/drawing/2014/main" id="{8EACE9AE-8933-7C9A-B2CC-01ACC1BFEE41}"/>
                </a:ext>
              </a:extLst>
            </p:cNvPr>
            <p:cNvCxnSpPr>
              <a:cxnSpLocks/>
            </p:cNvCxnSpPr>
            <p:nvPr/>
          </p:nvCxnSpPr>
          <p:spPr>
            <a:xfrm>
              <a:off x="10770710" y="2990764"/>
              <a:ext cx="0" cy="79767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1AC6770-FE9D-6AA7-6831-E9FEB011C97D}"/>
                </a:ext>
              </a:extLst>
            </p:cNvPr>
            <p:cNvSpPr txBox="1"/>
            <p:nvPr/>
          </p:nvSpPr>
          <p:spPr>
            <a:xfrm>
              <a:off x="10809747" y="2990764"/>
              <a:ext cx="1031307" cy="649827"/>
            </a:xfrm>
            <a:prstGeom prst="rect">
              <a:avLst/>
            </a:prstGeom>
            <a:noFill/>
          </p:spPr>
          <p:txBody>
            <a:bodyPr wrap="square" rtlCol="0">
              <a:spAutoFit/>
            </a:bodyPr>
            <a:lstStyle/>
            <a:p>
              <a:pPr algn="ctr"/>
              <a:r>
                <a:rPr lang="en-US" sz="2800" b="1" dirty="0">
                  <a:solidFill>
                    <a:srgbClr val="062F87"/>
                  </a:solidFill>
                  <a:latin typeface="Arial" panose="020B0604020202020204" pitchFamily="34" charset="0"/>
                  <a:cs typeface="Arial" panose="020B0604020202020204" pitchFamily="34" charset="0"/>
                </a:rPr>
                <a:t>155</a:t>
              </a:r>
              <a:endParaRPr lang="en-LB" sz="3000" b="1" dirty="0">
                <a:solidFill>
                  <a:srgbClr val="062F87"/>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8B11D30C-4433-39C9-D284-E3DD15093170}"/>
                </a:ext>
              </a:extLst>
            </p:cNvPr>
            <p:cNvSpPr txBox="1"/>
            <p:nvPr/>
          </p:nvSpPr>
          <p:spPr>
            <a:xfrm>
              <a:off x="10650636" y="3538831"/>
              <a:ext cx="1349527" cy="267576"/>
            </a:xfrm>
            <a:prstGeom prst="rect">
              <a:avLst/>
            </a:prstGeom>
            <a:noFill/>
          </p:spPr>
          <p:txBody>
            <a:bodyPr wrap="square" rtlCol="0">
              <a:spAutoFit/>
            </a:bodyPr>
            <a:lstStyle/>
            <a:p>
              <a:pPr algn="ctr"/>
              <a:r>
                <a:rPr lang="en-US" sz="800" dirty="0">
                  <a:solidFill>
                    <a:srgbClr val="062F87"/>
                  </a:solidFill>
                  <a:latin typeface="Arial" panose="020B0604020202020204" pitchFamily="34" charset="0"/>
                  <a:cs typeface="Arial" panose="020B0604020202020204" pitchFamily="34" charset="0"/>
                </a:rPr>
                <a:t>POSTS</a:t>
              </a:r>
              <a:endParaRPr lang="en-LB" sz="800" dirty="0">
                <a:solidFill>
                  <a:srgbClr val="062F87"/>
                </a:solidFill>
                <a:latin typeface="Arial" panose="020B0604020202020204" pitchFamily="34" charset="0"/>
                <a:cs typeface="Arial" panose="020B0604020202020204" pitchFamily="34" charset="0"/>
              </a:endParaRPr>
            </a:p>
          </p:txBody>
        </p:sp>
      </p:grpSp>
      <p:pic>
        <p:nvPicPr>
          <p:cNvPr id="20" name="Picture 19">
            <a:extLst>
              <a:ext uri="{FF2B5EF4-FFF2-40B4-BE49-F238E27FC236}">
                <a16:creationId xmlns:a16="http://schemas.microsoft.com/office/drawing/2014/main" id="{3B397CA7-6981-3A34-BBDC-BD966501E8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184" y="2887909"/>
            <a:ext cx="480561" cy="480561"/>
          </a:xfrm>
          <a:prstGeom prst="rect">
            <a:avLst/>
          </a:prstGeom>
        </p:spPr>
      </p:pic>
      <p:grpSp>
        <p:nvGrpSpPr>
          <p:cNvPr id="21" name="Group 20">
            <a:extLst>
              <a:ext uri="{FF2B5EF4-FFF2-40B4-BE49-F238E27FC236}">
                <a16:creationId xmlns:a16="http://schemas.microsoft.com/office/drawing/2014/main" id="{905040A1-01AE-98BE-2B88-4CA3F0F0D2B8}"/>
              </a:ext>
            </a:extLst>
          </p:cNvPr>
          <p:cNvGrpSpPr/>
          <p:nvPr/>
        </p:nvGrpSpPr>
        <p:grpSpPr>
          <a:xfrm>
            <a:off x="1508851" y="2817270"/>
            <a:ext cx="1086597" cy="656730"/>
            <a:chOff x="10650636" y="2990764"/>
            <a:chExt cx="1349527" cy="815643"/>
          </a:xfrm>
        </p:grpSpPr>
        <p:cxnSp>
          <p:nvCxnSpPr>
            <p:cNvPr id="22" name="Straight Connector 21">
              <a:extLst>
                <a:ext uri="{FF2B5EF4-FFF2-40B4-BE49-F238E27FC236}">
                  <a16:creationId xmlns:a16="http://schemas.microsoft.com/office/drawing/2014/main" id="{C96E8D43-078D-9858-B67C-AFE2B09E55D3}"/>
                </a:ext>
              </a:extLst>
            </p:cNvPr>
            <p:cNvCxnSpPr>
              <a:cxnSpLocks/>
            </p:cNvCxnSpPr>
            <p:nvPr/>
          </p:nvCxnSpPr>
          <p:spPr>
            <a:xfrm>
              <a:off x="10770710" y="2990764"/>
              <a:ext cx="0" cy="79767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6176602-021D-C1DE-98DB-AFDA506058FC}"/>
                </a:ext>
              </a:extLst>
            </p:cNvPr>
            <p:cNvSpPr txBox="1"/>
            <p:nvPr/>
          </p:nvSpPr>
          <p:spPr>
            <a:xfrm>
              <a:off x="10809747" y="2990764"/>
              <a:ext cx="1031307" cy="649827"/>
            </a:xfrm>
            <a:prstGeom prst="rect">
              <a:avLst/>
            </a:prstGeom>
            <a:noFill/>
          </p:spPr>
          <p:txBody>
            <a:bodyPr wrap="square" rtlCol="0">
              <a:spAutoFit/>
            </a:bodyPr>
            <a:lstStyle/>
            <a:p>
              <a:pPr algn="ctr"/>
              <a:r>
                <a:rPr lang="en-US" sz="2800" b="1" dirty="0">
                  <a:solidFill>
                    <a:srgbClr val="062F87"/>
                  </a:solidFill>
                  <a:latin typeface="Arial" panose="020B0604020202020204" pitchFamily="34" charset="0"/>
                  <a:cs typeface="Arial" panose="020B0604020202020204" pitchFamily="34" charset="0"/>
                </a:rPr>
                <a:t>80</a:t>
              </a:r>
              <a:endParaRPr lang="en-LB" sz="3000" b="1" dirty="0">
                <a:solidFill>
                  <a:srgbClr val="062F87"/>
                </a:solidFill>
                <a:latin typeface="Arial" panose="020B0604020202020204" pitchFamily="34" charset="0"/>
                <a:cs typeface="Arial" panose="020B0604020202020204" pitchFamily="34" charset="0"/>
              </a:endParaRPr>
            </a:p>
          </p:txBody>
        </p:sp>
        <p:sp>
          <p:nvSpPr>
            <p:cNvPr id="24" name="TextBox 23">
              <a:extLst>
                <a:ext uri="{FF2B5EF4-FFF2-40B4-BE49-F238E27FC236}">
                  <a16:creationId xmlns:a16="http://schemas.microsoft.com/office/drawing/2014/main" id="{6FF4A439-D1BA-0F82-A552-03DD7FC78553}"/>
                </a:ext>
              </a:extLst>
            </p:cNvPr>
            <p:cNvSpPr txBox="1"/>
            <p:nvPr/>
          </p:nvSpPr>
          <p:spPr>
            <a:xfrm>
              <a:off x="10650636" y="3538831"/>
              <a:ext cx="1349527" cy="267576"/>
            </a:xfrm>
            <a:prstGeom prst="rect">
              <a:avLst/>
            </a:prstGeom>
            <a:noFill/>
          </p:spPr>
          <p:txBody>
            <a:bodyPr wrap="square" rtlCol="0">
              <a:spAutoFit/>
            </a:bodyPr>
            <a:lstStyle/>
            <a:p>
              <a:pPr algn="ctr"/>
              <a:r>
                <a:rPr lang="en-US" sz="800" dirty="0">
                  <a:solidFill>
                    <a:srgbClr val="062F87"/>
                  </a:solidFill>
                  <a:latin typeface="Arial" panose="020B0604020202020204" pitchFamily="34" charset="0"/>
                  <a:cs typeface="Arial" panose="020B0604020202020204" pitchFamily="34" charset="0"/>
                </a:rPr>
                <a:t>POSTS</a:t>
              </a:r>
              <a:endParaRPr lang="en-LB" sz="800" dirty="0">
                <a:solidFill>
                  <a:srgbClr val="062F87"/>
                </a:solidFill>
                <a:latin typeface="Arial" panose="020B0604020202020204" pitchFamily="34" charset="0"/>
                <a:cs typeface="Arial" panose="020B0604020202020204" pitchFamily="34" charset="0"/>
              </a:endParaRPr>
            </a:p>
          </p:txBody>
        </p:sp>
      </p:grpSp>
      <p:grpSp>
        <p:nvGrpSpPr>
          <p:cNvPr id="25" name="Group 24">
            <a:extLst>
              <a:ext uri="{FF2B5EF4-FFF2-40B4-BE49-F238E27FC236}">
                <a16:creationId xmlns:a16="http://schemas.microsoft.com/office/drawing/2014/main" id="{6E69CBC5-D7ED-E1AD-1780-48F1A5BA90F2}"/>
              </a:ext>
            </a:extLst>
          </p:cNvPr>
          <p:cNvGrpSpPr/>
          <p:nvPr/>
        </p:nvGrpSpPr>
        <p:grpSpPr>
          <a:xfrm>
            <a:off x="2498767" y="1521412"/>
            <a:ext cx="1504585" cy="954107"/>
            <a:chOff x="10650636" y="2990764"/>
            <a:chExt cx="1349527" cy="1184978"/>
          </a:xfrm>
        </p:grpSpPr>
        <p:cxnSp>
          <p:nvCxnSpPr>
            <p:cNvPr id="26" name="Straight Connector 25">
              <a:extLst>
                <a:ext uri="{FF2B5EF4-FFF2-40B4-BE49-F238E27FC236}">
                  <a16:creationId xmlns:a16="http://schemas.microsoft.com/office/drawing/2014/main" id="{179692F9-3B34-8AE1-E83B-74DDFEE83E6D}"/>
                </a:ext>
              </a:extLst>
            </p:cNvPr>
            <p:cNvCxnSpPr>
              <a:cxnSpLocks/>
            </p:cNvCxnSpPr>
            <p:nvPr/>
          </p:nvCxnSpPr>
          <p:spPr>
            <a:xfrm>
              <a:off x="10770710" y="2990764"/>
              <a:ext cx="0" cy="79767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6134AC4-A1E9-B90A-3AE5-E116DEA5C58B}"/>
                </a:ext>
              </a:extLst>
            </p:cNvPr>
            <p:cNvSpPr txBox="1"/>
            <p:nvPr/>
          </p:nvSpPr>
          <p:spPr>
            <a:xfrm>
              <a:off x="10809747" y="2990764"/>
              <a:ext cx="1031307" cy="1184978"/>
            </a:xfrm>
            <a:prstGeom prst="rect">
              <a:avLst/>
            </a:prstGeom>
            <a:noFill/>
          </p:spPr>
          <p:txBody>
            <a:bodyPr wrap="square" rtlCol="0">
              <a:spAutoFit/>
            </a:bodyPr>
            <a:lstStyle/>
            <a:p>
              <a:pPr algn="ctr"/>
              <a:r>
                <a:rPr lang="en-US" sz="2800" b="1" dirty="0">
                  <a:solidFill>
                    <a:srgbClr val="062F87"/>
                  </a:solidFill>
                  <a:latin typeface="Arial" panose="020B0604020202020204" pitchFamily="34" charset="0"/>
                  <a:cs typeface="Arial" panose="020B0604020202020204" pitchFamily="34" charset="0"/>
                </a:rPr>
                <a:t>11.3K</a:t>
              </a:r>
              <a:endParaRPr lang="en-LB" sz="2400" b="1" dirty="0">
                <a:solidFill>
                  <a:srgbClr val="062F87"/>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ABF7FBFF-FAB8-813C-D6F5-ECA98D1370CE}"/>
                </a:ext>
              </a:extLst>
            </p:cNvPr>
            <p:cNvSpPr txBox="1"/>
            <p:nvPr/>
          </p:nvSpPr>
          <p:spPr>
            <a:xfrm>
              <a:off x="10650636" y="3538831"/>
              <a:ext cx="1349527" cy="267576"/>
            </a:xfrm>
            <a:prstGeom prst="rect">
              <a:avLst/>
            </a:prstGeom>
            <a:noFill/>
          </p:spPr>
          <p:txBody>
            <a:bodyPr wrap="square" rtlCol="0">
              <a:spAutoFit/>
            </a:bodyPr>
            <a:lstStyle/>
            <a:p>
              <a:pPr algn="ctr"/>
              <a:r>
                <a:rPr lang="en-US" sz="800" dirty="0">
                  <a:solidFill>
                    <a:srgbClr val="062F87"/>
                  </a:solidFill>
                  <a:latin typeface="Arial" panose="020B0604020202020204" pitchFamily="34" charset="0"/>
                  <a:cs typeface="Arial" panose="020B0604020202020204" pitchFamily="34" charset="0"/>
                </a:rPr>
                <a:t>POSTS</a:t>
              </a:r>
              <a:endParaRPr lang="en-LB" sz="800" dirty="0">
                <a:solidFill>
                  <a:srgbClr val="062F87"/>
                </a:solidFill>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4AB82B63-15D2-423C-8CB5-8F57B0F9A7EF}"/>
              </a:ext>
            </a:extLst>
          </p:cNvPr>
          <p:cNvGrpSpPr/>
          <p:nvPr/>
        </p:nvGrpSpPr>
        <p:grpSpPr>
          <a:xfrm>
            <a:off x="2498768" y="2189496"/>
            <a:ext cx="1504585" cy="656728"/>
            <a:chOff x="10650636" y="2990764"/>
            <a:chExt cx="1349527" cy="815640"/>
          </a:xfrm>
        </p:grpSpPr>
        <p:cxnSp>
          <p:nvCxnSpPr>
            <p:cNvPr id="31" name="Straight Connector 30">
              <a:extLst>
                <a:ext uri="{FF2B5EF4-FFF2-40B4-BE49-F238E27FC236}">
                  <a16:creationId xmlns:a16="http://schemas.microsoft.com/office/drawing/2014/main" id="{E22507D9-6ED1-F24C-9560-242D366A856B}"/>
                </a:ext>
              </a:extLst>
            </p:cNvPr>
            <p:cNvCxnSpPr>
              <a:cxnSpLocks/>
            </p:cNvCxnSpPr>
            <p:nvPr/>
          </p:nvCxnSpPr>
          <p:spPr>
            <a:xfrm>
              <a:off x="10770710" y="2990764"/>
              <a:ext cx="0" cy="79767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8124F4D-FC8E-D411-1C0B-4343E5093018}"/>
                </a:ext>
              </a:extLst>
            </p:cNvPr>
            <p:cNvSpPr txBox="1"/>
            <p:nvPr/>
          </p:nvSpPr>
          <p:spPr>
            <a:xfrm>
              <a:off x="10809747" y="2990764"/>
              <a:ext cx="1031307" cy="649827"/>
            </a:xfrm>
            <a:prstGeom prst="rect">
              <a:avLst/>
            </a:prstGeom>
            <a:noFill/>
          </p:spPr>
          <p:txBody>
            <a:bodyPr wrap="square" rtlCol="0">
              <a:spAutoFit/>
            </a:bodyPr>
            <a:lstStyle/>
            <a:p>
              <a:pPr algn="ctr"/>
              <a:r>
                <a:rPr lang="en-US" sz="2800" b="1" dirty="0">
                  <a:solidFill>
                    <a:srgbClr val="062F87"/>
                  </a:solidFill>
                  <a:latin typeface="Arial" panose="020B0604020202020204" pitchFamily="34" charset="0"/>
                  <a:cs typeface="Arial" panose="020B0604020202020204" pitchFamily="34" charset="0"/>
                </a:rPr>
                <a:t>4.3K</a:t>
              </a:r>
              <a:endParaRPr lang="en-LB" sz="2400" b="1" dirty="0">
                <a:solidFill>
                  <a:srgbClr val="062F87"/>
                </a:solidFill>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902DB28F-91BA-1386-FD1C-07A369416396}"/>
                </a:ext>
              </a:extLst>
            </p:cNvPr>
            <p:cNvSpPr txBox="1"/>
            <p:nvPr/>
          </p:nvSpPr>
          <p:spPr>
            <a:xfrm>
              <a:off x="10650636" y="3538828"/>
              <a:ext cx="1349527" cy="267576"/>
            </a:xfrm>
            <a:prstGeom prst="rect">
              <a:avLst/>
            </a:prstGeom>
            <a:noFill/>
          </p:spPr>
          <p:txBody>
            <a:bodyPr wrap="square" rtlCol="0">
              <a:spAutoFit/>
            </a:bodyPr>
            <a:lstStyle/>
            <a:p>
              <a:pPr algn="ctr"/>
              <a:r>
                <a:rPr lang="en-US" sz="800" dirty="0">
                  <a:solidFill>
                    <a:srgbClr val="062F87"/>
                  </a:solidFill>
                  <a:latin typeface="Arial" panose="020B0604020202020204" pitchFamily="34" charset="0"/>
                  <a:cs typeface="Arial" panose="020B0604020202020204" pitchFamily="34" charset="0"/>
                </a:rPr>
                <a:t>POSTS</a:t>
              </a:r>
              <a:endParaRPr lang="en-LB" sz="800" dirty="0">
                <a:solidFill>
                  <a:srgbClr val="062F87"/>
                </a:solidFill>
                <a:latin typeface="Arial" panose="020B0604020202020204" pitchFamily="34" charset="0"/>
                <a:cs typeface="Arial" panose="020B0604020202020204" pitchFamily="34" charset="0"/>
              </a:endParaRPr>
            </a:p>
          </p:txBody>
        </p:sp>
      </p:grpSp>
      <p:grpSp>
        <p:nvGrpSpPr>
          <p:cNvPr id="34" name="Group 33">
            <a:extLst>
              <a:ext uri="{FF2B5EF4-FFF2-40B4-BE49-F238E27FC236}">
                <a16:creationId xmlns:a16="http://schemas.microsoft.com/office/drawing/2014/main" id="{8CEA00CF-8567-F784-875E-F340992525FC}"/>
              </a:ext>
            </a:extLst>
          </p:cNvPr>
          <p:cNvGrpSpPr/>
          <p:nvPr/>
        </p:nvGrpSpPr>
        <p:grpSpPr>
          <a:xfrm>
            <a:off x="2503062" y="2820507"/>
            <a:ext cx="1504585" cy="656730"/>
            <a:chOff x="10650636" y="2990764"/>
            <a:chExt cx="1349527" cy="815643"/>
          </a:xfrm>
        </p:grpSpPr>
        <p:cxnSp>
          <p:nvCxnSpPr>
            <p:cNvPr id="35" name="Straight Connector 34">
              <a:extLst>
                <a:ext uri="{FF2B5EF4-FFF2-40B4-BE49-F238E27FC236}">
                  <a16:creationId xmlns:a16="http://schemas.microsoft.com/office/drawing/2014/main" id="{68E68021-F7FC-AF42-491A-B64E62DBF453}"/>
                </a:ext>
              </a:extLst>
            </p:cNvPr>
            <p:cNvCxnSpPr>
              <a:cxnSpLocks/>
            </p:cNvCxnSpPr>
            <p:nvPr/>
          </p:nvCxnSpPr>
          <p:spPr>
            <a:xfrm>
              <a:off x="10770710" y="2990764"/>
              <a:ext cx="0" cy="797676"/>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57D96F01-FF5B-9E0D-42B7-4A48DBADCE26}"/>
                </a:ext>
              </a:extLst>
            </p:cNvPr>
            <p:cNvSpPr txBox="1"/>
            <p:nvPr/>
          </p:nvSpPr>
          <p:spPr>
            <a:xfrm>
              <a:off x="10809747" y="2990764"/>
              <a:ext cx="1031307" cy="649827"/>
            </a:xfrm>
            <a:prstGeom prst="rect">
              <a:avLst/>
            </a:prstGeom>
            <a:noFill/>
          </p:spPr>
          <p:txBody>
            <a:bodyPr wrap="square" rtlCol="0">
              <a:spAutoFit/>
            </a:bodyPr>
            <a:lstStyle/>
            <a:p>
              <a:pPr algn="ctr"/>
              <a:r>
                <a:rPr lang="en-US" sz="2800" b="1" dirty="0">
                  <a:solidFill>
                    <a:srgbClr val="062F87"/>
                  </a:solidFill>
                  <a:latin typeface="Arial" panose="020B0604020202020204" pitchFamily="34" charset="0"/>
                  <a:cs typeface="Arial" panose="020B0604020202020204" pitchFamily="34" charset="0"/>
                </a:rPr>
                <a:t>4.2K</a:t>
              </a:r>
              <a:endParaRPr lang="en-LB" sz="2400" b="1" dirty="0">
                <a:solidFill>
                  <a:srgbClr val="062F87"/>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7AA46E34-1BED-50DC-C8F8-7C70F7B8DD5A}"/>
                </a:ext>
              </a:extLst>
            </p:cNvPr>
            <p:cNvSpPr txBox="1"/>
            <p:nvPr/>
          </p:nvSpPr>
          <p:spPr>
            <a:xfrm>
              <a:off x="10650636" y="3538831"/>
              <a:ext cx="1349527" cy="267576"/>
            </a:xfrm>
            <a:prstGeom prst="rect">
              <a:avLst/>
            </a:prstGeom>
            <a:noFill/>
          </p:spPr>
          <p:txBody>
            <a:bodyPr wrap="square" rtlCol="0">
              <a:spAutoFit/>
            </a:bodyPr>
            <a:lstStyle/>
            <a:p>
              <a:pPr algn="ctr"/>
              <a:r>
                <a:rPr lang="en-US" sz="800" dirty="0">
                  <a:solidFill>
                    <a:srgbClr val="062F87"/>
                  </a:solidFill>
                  <a:latin typeface="Arial" panose="020B0604020202020204" pitchFamily="34" charset="0"/>
                  <a:cs typeface="Arial" panose="020B0604020202020204" pitchFamily="34" charset="0"/>
                </a:rPr>
                <a:t>POSTS</a:t>
              </a:r>
              <a:endParaRPr lang="en-LB" sz="800" dirty="0">
                <a:solidFill>
                  <a:srgbClr val="062F87"/>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2711015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D3592-BDAE-9DC0-A701-AD75D0C154BD}"/>
            </a:ext>
          </a:extLst>
        </p:cNvPr>
        <p:cNvGrpSpPr/>
        <p:nvPr/>
      </p:nvGrpSpPr>
      <p:grpSpPr>
        <a:xfrm>
          <a:off x="0" y="0"/>
          <a:ext cx="0" cy="0"/>
          <a:chOff x="0" y="0"/>
          <a:chExt cx="0" cy="0"/>
        </a:xfrm>
      </p:grpSpPr>
      <p:sp>
        <p:nvSpPr>
          <p:cNvPr id="9" name="Subtitle 2">
            <a:extLst>
              <a:ext uri="{FF2B5EF4-FFF2-40B4-BE49-F238E27FC236}">
                <a16:creationId xmlns:a16="http://schemas.microsoft.com/office/drawing/2014/main" id="{95ABFEE3-A547-DEC3-4BD1-9FF4C863E566}"/>
              </a:ext>
            </a:extLst>
          </p:cNvPr>
          <p:cNvSpPr txBox="1">
            <a:spLocks/>
          </p:cNvSpPr>
          <p:nvPr/>
        </p:nvSpPr>
        <p:spPr>
          <a:xfrm>
            <a:off x="533401" y="1361872"/>
            <a:ext cx="4242880" cy="4435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457200" hangingPunct="0">
              <a:lnSpc>
                <a:spcPct val="100000"/>
              </a:lnSpc>
              <a:spcAft>
                <a:spcPts val="600"/>
              </a:spcAft>
              <a:buClr>
                <a:schemeClr val="accent1"/>
              </a:buCl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Investopia achieved strong reputational performance, with overwhelmingly positive traditional coverage and minimal negative sentiment across channels.</a:t>
            </a:r>
          </a:p>
          <a:p>
            <a:pPr algn="just" defTabSz="457200" hangingPunct="0">
              <a:lnSpc>
                <a:spcPct val="100000"/>
              </a:lnSpc>
              <a:spcAft>
                <a:spcPts val="600"/>
              </a:spcAft>
              <a:buClr>
                <a:schemeClr val="accent1"/>
              </a:buCl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Media narratives centered on innovation, sustainable economic growth, and structured investment mechanisms, reinforcing long-term positioning.</a:t>
            </a:r>
          </a:p>
          <a:p>
            <a:pPr algn="just" defTabSz="457200" hangingPunct="0">
              <a:lnSpc>
                <a:spcPct val="100000"/>
              </a:lnSpc>
              <a:spcAft>
                <a:spcPts val="600"/>
              </a:spcAft>
              <a:buClr>
                <a:schemeClr val="accent1"/>
              </a:buCl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LinkedIn emerged as the primary social platform, with engagement driven by institutional and ecosystem stakeholders.</a:t>
            </a:r>
          </a:p>
          <a:p>
            <a:pPr algn="just" defTabSz="457200" hangingPunct="0">
              <a:lnSpc>
                <a:spcPct val="100000"/>
              </a:lnSpc>
              <a:spcAft>
                <a:spcPts val="600"/>
              </a:spcAft>
              <a:buClr>
                <a:schemeClr val="accent1"/>
              </a:buCl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Coverage demonstrated strong domestic (UAE) concentration with regional amplification across the GCC.</a:t>
            </a:r>
          </a:p>
        </p:txBody>
      </p:sp>
      <p:sp>
        <p:nvSpPr>
          <p:cNvPr id="2" name="Title 1">
            <a:extLst>
              <a:ext uri="{FF2B5EF4-FFF2-40B4-BE49-F238E27FC236}">
                <a16:creationId xmlns:a16="http://schemas.microsoft.com/office/drawing/2014/main" id="{4B27EDB4-1F72-6318-19B9-7B80226A7695}"/>
              </a:ext>
            </a:extLst>
          </p:cNvPr>
          <p:cNvSpPr txBox="1">
            <a:spLocks/>
          </p:cNvSpPr>
          <p:nvPr/>
        </p:nvSpPr>
        <p:spPr>
          <a:xfrm>
            <a:off x="533401" y="505837"/>
            <a:ext cx="4242880" cy="747307"/>
          </a:xfrm>
          <a:prstGeom prst="rect">
            <a:avLst/>
          </a:prstGeom>
          <a:effectLst/>
        </p:spPr>
        <p:txBody>
          <a:bodyPr vert="horz" lIns="91440" tIns="45720" rIns="91440" bIns="45720" rtlCol="0" anchor="ctr">
            <a:normAutofit fontScale="97500"/>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ct val="120000"/>
              </a:lnSpc>
            </a:pPr>
            <a:r>
              <a:rPr lang="en-US" sz="3000" b="1" dirty="0">
                <a:solidFill>
                  <a:srgbClr val="062F87"/>
                </a:solidFill>
                <a:latin typeface="Arial" panose="020B0604020202020204" pitchFamily="34" charset="0"/>
                <a:ea typeface="+mn-ea"/>
                <a:cs typeface="+mn-cs"/>
              </a:rPr>
              <a:t>Key Strategic Insights</a:t>
            </a:r>
          </a:p>
        </p:txBody>
      </p:sp>
      <p:sp>
        <p:nvSpPr>
          <p:cNvPr id="3" name="Rectangle 2">
            <a:extLst>
              <a:ext uri="{FF2B5EF4-FFF2-40B4-BE49-F238E27FC236}">
                <a16:creationId xmlns:a16="http://schemas.microsoft.com/office/drawing/2014/main" id="{2892B4EC-5E1B-25B6-FC78-5FCCC3468412}"/>
              </a:ext>
            </a:extLst>
          </p:cNvPr>
          <p:cNvSpPr/>
          <p:nvPr/>
        </p:nvSpPr>
        <p:spPr>
          <a:xfrm>
            <a:off x="5364750" y="0"/>
            <a:ext cx="14625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A07B74FF-A4F8-EF56-2D78-D8909DF4A4B5}"/>
              </a:ext>
            </a:extLst>
          </p:cNvPr>
          <p:cNvSpPr/>
          <p:nvPr/>
        </p:nvSpPr>
        <p:spPr>
          <a:xfrm>
            <a:off x="6096000" y="0"/>
            <a:ext cx="6096011"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Subtitle 2">
            <a:extLst>
              <a:ext uri="{FF2B5EF4-FFF2-40B4-BE49-F238E27FC236}">
                <a16:creationId xmlns:a16="http://schemas.microsoft.com/office/drawing/2014/main" id="{391A0F44-C845-2985-74A2-82922A0A230F}"/>
              </a:ext>
            </a:extLst>
          </p:cNvPr>
          <p:cNvSpPr txBox="1">
            <a:spLocks/>
          </p:cNvSpPr>
          <p:nvPr/>
        </p:nvSpPr>
        <p:spPr>
          <a:xfrm>
            <a:off x="6580761" y="1361872"/>
            <a:ext cx="4528225" cy="464009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defTabSz="457200" hangingPunct="0">
              <a:lnSpc>
                <a:spcPct val="100000"/>
              </a:lnSpc>
              <a:spcAft>
                <a:spcPts val="600"/>
              </a:spcAft>
              <a:buClr>
                <a:schemeClr val="accent1"/>
              </a:buCl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Expand international media outreach beyond the GCC to increase </a:t>
            </a:r>
            <a:r>
              <a:rPr lang="en-US" sz="1700" b="1" dirty="0">
                <a:latin typeface="Calibri" panose="020F0502020204030204" pitchFamily="34" charset="0"/>
                <a:cs typeface="Calibri" panose="020F0502020204030204" pitchFamily="34" charset="0"/>
              </a:rPr>
              <a:t>global</a:t>
            </a:r>
            <a:r>
              <a:rPr lang="en-US" sz="1600" b="1" dirty="0">
                <a:latin typeface="Calibri" panose="020F0502020204030204" pitchFamily="34" charset="0"/>
                <a:cs typeface="Calibri" panose="020F0502020204030204" pitchFamily="34" charset="0"/>
              </a:rPr>
              <a:t> economic positioning and diversify geographic exposure.</a:t>
            </a:r>
          </a:p>
          <a:p>
            <a:pPr algn="just" defTabSz="457200" hangingPunct="0">
              <a:lnSpc>
                <a:spcPct val="100000"/>
              </a:lnSpc>
              <a:spcAft>
                <a:spcPts val="600"/>
              </a:spcAft>
              <a:buClr>
                <a:schemeClr val="accent1"/>
              </a:buCl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Strengthen relationships with high-reach institutional outlets to maximize impression impact rather than focusing solely on article volume.</a:t>
            </a:r>
          </a:p>
          <a:p>
            <a:pPr algn="just" defTabSz="457200" hangingPunct="0">
              <a:lnSpc>
                <a:spcPct val="100000"/>
              </a:lnSpc>
              <a:spcAft>
                <a:spcPts val="600"/>
              </a:spcAft>
              <a:buClr>
                <a:schemeClr val="accent1"/>
              </a:buCl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Continue leveraging LinkedIn as the primary professional engagement channel, with increased thought-leadership content from key stakeholders.</a:t>
            </a:r>
          </a:p>
          <a:p>
            <a:pPr algn="just" defTabSz="457200" hangingPunct="0">
              <a:lnSpc>
                <a:spcPct val="100000"/>
              </a:lnSpc>
              <a:spcAft>
                <a:spcPts val="600"/>
              </a:spcAft>
              <a:buClr>
                <a:schemeClr val="accent1"/>
              </a:buCl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Increase interactive social content around major announcements to convert participation-driven engagement into sustained dialogue.</a:t>
            </a:r>
          </a:p>
          <a:p>
            <a:pPr algn="just" defTabSz="457200" hangingPunct="0">
              <a:lnSpc>
                <a:spcPct val="100000"/>
              </a:lnSpc>
              <a:spcAft>
                <a:spcPts val="600"/>
              </a:spcAft>
              <a:buClr>
                <a:schemeClr val="accent1"/>
              </a:buClr>
              <a:buFont typeface="Wingdings" panose="05000000000000000000" pitchFamily="2" charset="2"/>
              <a:buChar char="Ø"/>
            </a:pPr>
            <a:r>
              <a:rPr lang="en-US" sz="1600" b="1" dirty="0">
                <a:latin typeface="Calibri" panose="020F0502020204030204" pitchFamily="34" charset="0"/>
                <a:cs typeface="Calibri" panose="020F0502020204030204" pitchFamily="34" charset="0"/>
              </a:rPr>
              <a:t>Develop post-event narrative follow-ups to maintain media momentum beyond peak announcement periods.</a:t>
            </a:r>
          </a:p>
        </p:txBody>
      </p:sp>
      <p:sp>
        <p:nvSpPr>
          <p:cNvPr id="6" name="Title 1">
            <a:extLst>
              <a:ext uri="{FF2B5EF4-FFF2-40B4-BE49-F238E27FC236}">
                <a16:creationId xmlns:a16="http://schemas.microsoft.com/office/drawing/2014/main" id="{08DA6470-6B51-3836-46A6-0AFF6998F950}"/>
              </a:ext>
            </a:extLst>
          </p:cNvPr>
          <p:cNvSpPr txBox="1">
            <a:spLocks/>
          </p:cNvSpPr>
          <p:nvPr/>
        </p:nvSpPr>
        <p:spPr>
          <a:xfrm>
            <a:off x="6580762" y="505837"/>
            <a:ext cx="4041842" cy="747307"/>
          </a:xfrm>
          <a:prstGeom prst="rect">
            <a:avLst/>
          </a:prstGeom>
          <a:effectLst/>
        </p:spPr>
        <p:txBody>
          <a:bodyPr vert="horz" lIns="91440" tIns="45720" rIns="91440" bIns="45720" rtlCol="0" anchor="ctr">
            <a:normAutofit fontScale="97500"/>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lnSpc>
                <a:spcPct val="120000"/>
              </a:lnSpc>
            </a:pPr>
            <a:r>
              <a:rPr lang="en-US" sz="3200" b="1" dirty="0">
                <a:solidFill>
                  <a:srgbClr val="062F87"/>
                </a:solidFill>
                <a:latin typeface="Arial" panose="020B0604020202020204" pitchFamily="34" charset="0"/>
              </a:rPr>
              <a:t>Recommendations</a:t>
            </a:r>
          </a:p>
        </p:txBody>
      </p:sp>
    </p:spTree>
    <p:extLst>
      <p:ext uri="{BB962C8B-B14F-4D97-AF65-F5344CB8AC3E}">
        <p14:creationId xmlns:p14="http://schemas.microsoft.com/office/powerpoint/2010/main" val="2926829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C57F34-9378-CB4A-3D82-39BFC4F51FB3}"/>
              </a:ext>
            </a:extLst>
          </p:cNvPr>
          <p:cNvSpPr txBox="1"/>
          <p:nvPr/>
        </p:nvSpPr>
        <p:spPr>
          <a:xfrm>
            <a:off x="578423" y="457358"/>
            <a:ext cx="6096000" cy="52322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468C"/>
                </a:solidFill>
                <a:effectLst/>
                <a:uLnTx/>
                <a:uFillTx/>
                <a:latin typeface="Arial" panose="020B0604020202020204" pitchFamily="34" charset="0"/>
                <a:ea typeface="SF Pro Semibold" pitchFamily="2" charset="0"/>
                <a:cs typeface="Arial" panose="020B0604020202020204" pitchFamily="34" charset="0"/>
              </a:rPr>
              <a:t>About CARMA</a:t>
            </a:r>
          </a:p>
        </p:txBody>
      </p:sp>
      <p:sp>
        <p:nvSpPr>
          <p:cNvPr id="5" name="TextBox 47">
            <a:extLst>
              <a:ext uri="{FF2B5EF4-FFF2-40B4-BE49-F238E27FC236}">
                <a16:creationId xmlns:a16="http://schemas.microsoft.com/office/drawing/2014/main" id="{BB7421C3-E6B6-F82B-4246-A1BE0B00C7BC}"/>
              </a:ext>
            </a:extLst>
          </p:cNvPr>
          <p:cNvSpPr txBox="1"/>
          <p:nvPr/>
        </p:nvSpPr>
        <p:spPr>
          <a:xfrm>
            <a:off x="578423" y="1225475"/>
            <a:ext cx="3936427" cy="1723549"/>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52245"/>
                </a:solidFill>
                <a:effectLst/>
                <a:uLnTx/>
                <a:uFillTx/>
                <a:latin typeface="Calibri" panose="020F0502020204030204" pitchFamily="34" charset="0"/>
                <a:ea typeface="Open Sans" panose="020B0606030504020204" pitchFamily="34" charset="0"/>
                <a:cs typeface="Calibri" panose="020F0502020204030204" pitchFamily="34" charset="0"/>
              </a:rPr>
              <a:t>CARMA is a global provider of media intelligence solutions. Our media monitoring, analysis, and database solutions are designed to deliver real insights and power-informed decision-making. With over 30 years of knowledge and experience and a presence in over 41 countries, we have the capacity to deliver the most comprehensive global monitoring program across any media platform in any language. </a:t>
            </a:r>
          </a:p>
        </p:txBody>
      </p:sp>
      <p:sp>
        <p:nvSpPr>
          <p:cNvPr id="6" name="Rounded Rectangle 9">
            <a:extLst>
              <a:ext uri="{FF2B5EF4-FFF2-40B4-BE49-F238E27FC236}">
                <a16:creationId xmlns:a16="http://schemas.microsoft.com/office/drawing/2014/main" id="{5F933D86-86DF-CDCE-D7E3-4AB8C645A633}"/>
              </a:ext>
            </a:extLst>
          </p:cNvPr>
          <p:cNvSpPr txBox="1"/>
          <p:nvPr/>
        </p:nvSpPr>
        <p:spPr>
          <a:xfrm>
            <a:off x="502221" y="3118139"/>
            <a:ext cx="4184078" cy="9233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8" tIns="91438" rIns="91438" bIns="91438">
            <a:spAutoFit/>
          </a:bodyPr>
          <a:lstStyle>
            <a:lvl1pPr>
              <a:defRPr sz="1600" b="1">
                <a:solidFill>
                  <a:srgbClr val="F1A15B"/>
                </a:solidFil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8588F"/>
                </a:solidFill>
                <a:effectLst/>
                <a:uLnTx/>
                <a:uFillTx/>
                <a:latin typeface="Calibri" panose="020F0502020204030204" pitchFamily="34" charset="0"/>
                <a:cs typeface="Calibri" panose="020F0502020204030204" pitchFamily="34" charset="0"/>
              </a:rPr>
              <a:t>Our global team of researchers and analysts sifts through the noise to make sense of the data and deliver what matters.</a:t>
            </a:r>
          </a:p>
        </p:txBody>
      </p:sp>
      <p:sp>
        <p:nvSpPr>
          <p:cNvPr id="7" name="TextBox 47">
            <a:extLst>
              <a:ext uri="{FF2B5EF4-FFF2-40B4-BE49-F238E27FC236}">
                <a16:creationId xmlns:a16="http://schemas.microsoft.com/office/drawing/2014/main" id="{7E9EFA62-4723-72CC-6F8E-F1457C351C79}"/>
              </a:ext>
            </a:extLst>
          </p:cNvPr>
          <p:cNvSpPr txBox="1"/>
          <p:nvPr/>
        </p:nvSpPr>
        <p:spPr>
          <a:xfrm>
            <a:off x="626047" y="4210581"/>
            <a:ext cx="3936427" cy="1292662"/>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52245"/>
                </a:solidFill>
                <a:effectLst/>
                <a:uLnTx/>
                <a:uFillTx/>
                <a:latin typeface="Calibri" panose="020F0502020204030204" pitchFamily="34" charset="0"/>
                <a:ea typeface="Open Sans" panose="020B0606030504020204" pitchFamily="34" charset="0"/>
                <a:cs typeface="Calibri" panose="020F0502020204030204" pitchFamily="34" charset="0"/>
              </a:rPr>
              <a:t>CARMA’s globally renowned methodology uses a balance of automation and curation to capture global media coverage and deliver deep insights, with sector expertise, communications performance scoring, competitor intelligence, message resonance, and C-level reporting.</a:t>
            </a:r>
          </a:p>
        </p:txBody>
      </p:sp>
      <p:sp>
        <p:nvSpPr>
          <p:cNvPr id="8" name="TextBox 47">
            <a:extLst>
              <a:ext uri="{FF2B5EF4-FFF2-40B4-BE49-F238E27FC236}">
                <a16:creationId xmlns:a16="http://schemas.microsoft.com/office/drawing/2014/main" id="{79C4830F-C331-E130-22DE-9A700050D13B}"/>
              </a:ext>
            </a:extLst>
          </p:cNvPr>
          <p:cNvSpPr txBox="1"/>
          <p:nvPr/>
        </p:nvSpPr>
        <p:spPr>
          <a:xfrm>
            <a:off x="5053443" y="935109"/>
            <a:ext cx="4184078" cy="1077218"/>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52245"/>
                </a:solidFill>
                <a:effectLst/>
                <a:uLnTx/>
                <a:uFillTx/>
                <a:latin typeface="Calibri" panose="020F0502020204030204" pitchFamily="34" charset="0"/>
                <a:cs typeface="Calibri" panose="020F0502020204030204" pitchFamily="34" charset="0"/>
              </a:rPr>
              <a:t>We deploy the best technology worldwide, but we are not a software licensing company, we are a people-first, client-centric provider of quality media intelligence services, that help you measure your reputation and communications worldwide. </a:t>
            </a:r>
          </a:p>
        </p:txBody>
      </p:sp>
      <p:sp>
        <p:nvSpPr>
          <p:cNvPr id="9" name="TextBox 47">
            <a:extLst>
              <a:ext uri="{FF2B5EF4-FFF2-40B4-BE49-F238E27FC236}">
                <a16:creationId xmlns:a16="http://schemas.microsoft.com/office/drawing/2014/main" id="{82318DC8-D347-1556-90BD-5D5AFCF1D4FC}"/>
              </a:ext>
            </a:extLst>
          </p:cNvPr>
          <p:cNvSpPr txBox="1"/>
          <p:nvPr/>
        </p:nvSpPr>
        <p:spPr>
          <a:xfrm>
            <a:off x="5053443" y="2194971"/>
            <a:ext cx="4184078" cy="2369880"/>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52245"/>
                </a:solidFill>
                <a:effectLst/>
                <a:uLnTx/>
                <a:uFillTx/>
                <a:latin typeface="Calibri" panose="020F0502020204030204" pitchFamily="34" charset="0"/>
                <a:cs typeface="Calibri" panose="020F0502020204030204" pitchFamily="34" charset="0"/>
              </a:rPr>
              <a:t>CARMA advocates the use of a Valid Metrics Framework, as advised by our industry body AMEC, to measure the success of your communications efforts, as opposed to AVE, which is a controversial metric to use in the communications evaluation sector. It is not in line with best practices and has been globally derided as flawed. CARMA encourages our clients to move away from its use but acknowledges that doing so may not be easy. Please contact your Relationship Manager who will be pleased to advise and help you update your measurement program.</a:t>
            </a:r>
          </a:p>
        </p:txBody>
      </p:sp>
      <p:sp>
        <p:nvSpPr>
          <p:cNvPr id="10" name="TextBox 47">
            <a:extLst>
              <a:ext uri="{FF2B5EF4-FFF2-40B4-BE49-F238E27FC236}">
                <a16:creationId xmlns:a16="http://schemas.microsoft.com/office/drawing/2014/main" id="{499A6BB4-7E01-51CC-D99F-643EDC27AFEE}"/>
              </a:ext>
            </a:extLst>
          </p:cNvPr>
          <p:cNvSpPr txBox="1"/>
          <p:nvPr/>
        </p:nvSpPr>
        <p:spPr>
          <a:xfrm>
            <a:off x="5053443" y="4747495"/>
            <a:ext cx="4184078" cy="1508105"/>
          </a:xfrm>
          <a:prstGeom prst="rect">
            <a:avLst/>
          </a:prstGeom>
          <a:noFill/>
          <a:ln w="6350">
            <a:noFill/>
            <a:prstDash val="dash"/>
          </a:ln>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52245"/>
                </a:solidFill>
                <a:effectLst/>
                <a:uLnTx/>
                <a:uFillTx/>
                <a:latin typeface="Calibri" panose="020F0502020204030204" pitchFamily="34" charset="0"/>
                <a:cs typeface="Calibri" panose="020F0502020204030204" pitchFamily="34" charset="0"/>
              </a:rPr>
              <a:t>We can offer you monitoring and analysis in print, online, broadcast, and social media in any country in any language – contact your Relationship Manager for more information. If you have any comments/requests or feedback regarding this report, please feel free to contact your Relationship Manager directly or </a:t>
            </a:r>
            <a:r>
              <a:rPr kumimoji="0" lang="en-US" sz="1400" b="0" i="0" u="none" strike="noStrike" kern="1200" cap="none" spc="0" normalizeH="0" baseline="0" noProof="0" dirty="0">
                <a:ln>
                  <a:noFill/>
                </a:ln>
                <a:solidFill>
                  <a:srgbClr val="052245"/>
                </a:solidFill>
                <a:effectLst/>
                <a:uLnTx/>
                <a:uFillTx/>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Shirin.pervez@carma.com</a:t>
            </a:r>
            <a:r>
              <a:rPr kumimoji="0" lang="en-US" sz="1400" b="0" i="0" u="none" strike="noStrike" kern="1200" cap="none" spc="0" normalizeH="0" baseline="0" noProof="0" dirty="0">
                <a:ln>
                  <a:noFill/>
                </a:ln>
                <a:solidFill>
                  <a:srgbClr val="052245"/>
                </a:solidFill>
                <a:effectLst/>
                <a:uLnTx/>
                <a:uFillTx/>
                <a:latin typeface="Calibri" panose="020F0502020204030204" pitchFamily="34" charset="0"/>
                <a:cs typeface="Calibri" panose="020F0502020204030204" pitchFamily="34" charset="0"/>
              </a:rPr>
              <a:t>.</a:t>
            </a:r>
            <a:endParaRPr kumimoji="0" lang="en-US" sz="1400" b="0" i="0" u="none" strike="noStrike" kern="1200" cap="none" spc="0" normalizeH="0" baseline="0" noProof="0" dirty="0">
              <a:ln>
                <a:noFill/>
              </a:ln>
              <a:solidFill>
                <a:srgbClr val="052245"/>
              </a:solidFill>
              <a:effectLst/>
              <a:uLnTx/>
              <a:uFillTx/>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endParaRPr>
          </a:p>
        </p:txBody>
      </p:sp>
      <p:sp>
        <p:nvSpPr>
          <p:cNvPr id="11" name="Rectangle 10">
            <a:extLst>
              <a:ext uri="{FF2B5EF4-FFF2-40B4-BE49-F238E27FC236}">
                <a16:creationId xmlns:a16="http://schemas.microsoft.com/office/drawing/2014/main" id="{515A07B3-6581-8684-831E-420696B848D2}"/>
              </a:ext>
            </a:extLst>
          </p:cNvPr>
          <p:cNvSpPr/>
          <p:nvPr/>
        </p:nvSpPr>
        <p:spPr>
          <a:xfrm>
            <a:off x="9521540" y="0"/>
            <a:ext cx="267046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FF6AF9E4-3B25-9790-3DD3-E1118BDCECC1}"/>
              </a:ext>
            </a:extLst>
          </p:cNvPr>
          <p:cNvSpPr txBox="1"/>
          <p:nvPr/>
        </p:nvSpPr>
        <p:spPr>
          <a:xfrm>
            <a:off x="9893878" y="1223236"/>
            <a:ext cx="219076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Confidentiality </a:t>
            </a:r>
          </a:p>
        </p:txBody>
      </p:sp>
      <p:sp>
        <p:nvSpPr>
          <p:cNvPr id="14" name="TextBox 5">
            <a:extLst>
              <a:ext uri="{FF2B5EF4-FFF2-40B4-BE49-F238E27FC236}">
                <a16:creationId xmlns:a16="http://schemas.microsoft.com/office/drawing/2014/main" id="{640CB71F-5719-852D-A77B-E1D97E74FF27}"/>
              </a:ext>
            </a:extLst>
          </p:cNvPr>
          <p:cNvSpPr txBox="1"/>
          <p:nvPr/>
        </p:nvSpPr>
        <p:spPr>
          <a:xfrm>
            <a:off x="9981253" y="1699533"/>
            <a:ext cx="1746625" cy="37548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lvl1pPr>
              <a:defRPr sz="1500">
                <a:solidFill>
                  <a:srgbClr val="FFFFFF"/>
                </a:solidFill>
              </a:defRPr>
            </a:lvl1pPr>
          </a:lstStyle>
          <a:p>
            <a:pPr lvl="0" algn="just" defTabSz="914400">
              <a:defRPr/>
            </a:pPr>
            <a:r>
              <a:rPr kumimoji="0"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All the information, data</a:t>
            </a:r>
            <a:r>
              <a:rPr kumimoji="0" lang="en-US"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r>
              <a:rPr kumimoji="0"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and designs contained in this report are the intellectual property of CARMA and are strictly to be used exclusively by </a:t>
            </a:r>
            <a:r>
              <a:rPr lang="en-US" sz="1400" b="1" dirty="0">
                <a:solidFill>
                  <a:prstClr val="white"/>
                </a:solidFill>
                <a:latin typeface="Arial" panose="020B0604020202020204" pitchFamily="34" charset="0"/>
                <a:cs typeface="Arial" panose="020B0604020202020204" pitchFamily="34" charset="0"/>
              </a:rPr>
              <a:t>Investopia</a:t>
            </a:r>
            <a:r>
              <a:rPr kumimoji="0"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The contents of this report may not be copied, reproduced, distributed or displayed to third parties without CARMA’s express written consent. </a:t>
            </a:r>
          </a:p>
        </p:txBody>
      </p:sp>
      <p:pic>
        <p:nvPicPr>
          <p:cNvPr id="15" name="Graphic 38" descr="Graphic 38">
            <a:extLst>
              <a:ext uri="{FF2B5EF4-FFF2-40B4-BE49-F238E27FC236}">
                <a16:creationId xmlns:a16="http://schemas.microsoft.com/office/drawing/2014/main" id="{5A15F477-C909-C0C5-057A-43B2F6BF61AC}"/>
              </a:ext>
            </a:extLst>
          </p:cNvPr>
          <p:cNvPicPr>
            <a:picLocks noChangeAspect="1"/>
          </p:cNvPicPr>
          <p:nvPr/>
        </p:nvPicPr>
        <p:blipFill>
          <a:blip r:embed="rId4"/>
          <a:stretch>
            <a:fillRect/>
          </a:stretch>
        </p:blipFill>
        <p:spPr>
          <a:xfrm>
            <a:off x="578422" y="5983210"/>
            <a:ext cx="1726627" cy="455374"/>
          </a:xfrm>
          <a:prstGeom prst="rect">
            <a:avLst/>
          </a:prstGeom>
          <a:ln w="12700">
            <a:miter lim="400000"/>
          </a:ln>
        </p:spPr>
      </p:pic>
    </p:spTree>
    <p:extLst>
      <p:ext uri="{BB962C8B-B14F-4D97-AF65-F5344CB8AC3E}">
        <p14:creationId xmlns:p14="http://schemas.microsoft.com/office/powerpoint/2010/main" val="25456345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1161</TotalTime>
  <Words>1362</Words>
  <Application>Microsoft Office PowerPoint</Application>
  <PresentationFormat>Widescreen</PresentationFormat>
  <Paragraphs>174</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Calisto MT</vt:lpstr>
      <vt:lpstr>Wingdings</vt:lpstr>
      <vt:lpstr>Wingdings 2</vt:lpstr>
      <vt:lpstr>Slate</vt:lpstr>
      <vt:lpstr>Investopia Media Analysis Report February – March 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Wael Saleh</dc:creator>
  <cp:lastModifiedBy>Wael Saleh</cp:lastModifiedBy>
  <cp:revision>5</cp:revision>
  <dcterms:created xsi:type="dcterms:W3CDTF">2026-02-04T23:41:39Z</dcterms:created>
  <dcterms:modified xsi:type="dcterms:W3CDTF">2026-02-05T21:24:28Z</dcterms:modified>
</cp:coreProperties>
</file>